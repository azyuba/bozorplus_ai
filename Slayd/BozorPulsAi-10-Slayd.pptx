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06b052ccc24e33" /><Relationship Type="http://schemas.openxmlformats.org/officeDocument/2006/relationships/extended-properties" Target="/docProps/app.xml" Id="R091d15bbdd0f4b45" /><Relationship Type="http://schemas.openxmlformats.org/officeDocument/2006/relationships/officeDocument" Target="/ppt/presentation.xml" Id="R68bae0287f014791" /></Relationships>
</file>

<file path=ppt/presentation.xml><?xml version="1.0" encoding="utf-8"?>
<p:presentation xmlns:p="http://schemas.openxmlformats.org/presentationml/2006/main">
  <p:sldMasterIdLst>
    <p:sldMasterId xmlns:r="http://schemas.openxmlformats.org/officeDocument/2006/relationships" id="2147483648" r:id="R96643ee2a66f4929"/>
  </p:sldMasterIdLst>
  <p:notesMasterIdLst>
    <p:notesMasterId xmlns:r="http://schemas.openxmlformats.org/officeDocument/2006/relationships" r:id="Ra24cca6026bf4fe8"/>
  </p:notesMasterIdLst>
  <p:sldIdLst>
    <p:sldId xmlns:r="http://schemas.openxmlformats.org/officeDocument/2006/relationships" id="256" r:id="R5f4c7c47dc8240d1"/>
    <p:sldId xmlns:r="http://schemas.openxmlformats.org/officeDocument/2006/relationships" id="257" r:id="Rcab2f6d1f02a48fb"/>
    <p:sldId xmlns:r="http://schemas.openxmlformats.org/officeDocument/2006/relationships" id="258" r:id="R0f7912bad4e84a35"/>
    <p:sldId xmlns:r="http://schemas.openxmlformats.org/officeDocument/2006/relationships" id="259" r:id="Rbfb1e05ebadc4a01"/>
    <p:sldId xmlns:r="http://schemas.openxmlformats.org/officeDocument/2006/relationships" id="260" r:id="Rd6527a4eff7f44fd"/>
    <p:sldId xmlns:r="http://schemas.openxmlformats.org/officeDocument/2006/relationships" id="261" r:id="R516de9db857141b7"/>
    <p:sldId xmlns:r="http://schemas.openxmlformats.org/officeDocument/2006/relationships" id="262" r:id="R0d5d178131be41e4"/>
    <p:sldId xmlns:r="http://schemas.openxmlformats.org/officeDocument/2006/relationships" id="263" r:id="R2d532a0d9ae245ec"/>
    <p:sldId xmlns:r="http://schemas.openxmlformats.org/officeDocument/2006/relationships" id="264" r:id="Rccf567d7565e4045"/>
    <p:sldId xmlns:r="http://schemas.openxmlformats.org/officeDocument/2006/relationships" id="265" r:id="R2fde6b03da6746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e015952f1e45fb" /><Relationship Type="http://schemas.openxmlformats.org/officeDocument/2006/relationships/slideMaster" Target="/ppt/slideMasters/slideMaster1.xml" Id="R96643ee2a66f4929" /><Relationship Type="http://schemas.openxmlformats.org/officeDocument/2006/relationships/notesMaster" Target="/ppt/notesMasters/notesMaster1.xml" Id="Ra24cca6026bf4fe8" /><Relationship Type="http://schemas.openxmlformats.org/officeDocument/2006/relationships/presProps" Target="/ppt/presProps.xml" Id="Rbdd574666e4b45d5" /><Relationship Type="http://schemas.openxmlformats.org/officeDocument/2006/relationships/tableStyles" Target="/ppt/tableStyles.xml" Id="R868222d0b8fe4cc2" /><Relationship Type="http://schemas.openxmlformats.org/officeDocument/2006/relationships/slide" Target="/ppt/slides/slide1.xml" Id="R5f4c7c47dc8240d1" /><Relationship Type="http://schemas.openxmlformats.org/officeDocument/2006/relationships/slide" Target="/ppt/slides/slide2.xml" Id="Rcab2f6d1f02a48fb" /><Relationship Type="http://schemas.openxmlformats.org/officeDocument/2006/relationships/slide" Target="/ppt/slides/slide3.xml" Id="R0f7912bad4e84a35" /><Relationship Type="http://schemas.openxmlformats.org/officeDocument/2006/relationships/slide" Target="/ppt/slides/slide4.xml" Id="Rbfb1e05ebadc4a01" /><Relationship Type="http://schemas.openxmlformats.org/officeDocument/2006/relationships/slide" Target="/ppt/slides/slide5.xml" Id="Rd6527a4eff7f44fd" /><Relationship Type="http://schemas.openxmlformats.org/officeDocument/2006/relationships/slide" Target="/ppt/slides/slide6.xml" Id="R516de9db857141b7" /><Relationship Type="http://schemas.openxmlformats.org/officeDocument/2006/relationships/slide" Target="/ppt/slides/slide7.xml" Id="R0d5d178131be41e4" /><Relationship Type="http://schemas.openxmlformats.org/officeDocument/2006/relationships/slide" Target="/ppt/slides/slide8.xml" Id="R2d532a0d9ae245ec" /><Relationship Type="http://schemas.openxmlformats.org/officeDocument/2006/relationships/slide" Target="/ppt/slides/slide9.xml" Id="Rccf567d7565e4045" /><Relationship Type="http://schemas.openxmlformats.org/officeDocument/2006/relationships/slide" Target="/ppt/slides/slide10.xml" Id="R2fde6b03da6746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bb3e7fe12f45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8f7d7e42b44e60" /><Relationship Type="http://schemas.openxmlformats.org/officeDocument/2006/relationships/notesMaster" Target="/ppt/notesMasters/notesMaster1.xml" Id="R3b5f0aa642734e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bc375ac11a4dcf" /><Relationship Type="http://schemas.openxmlformats.org/officeDocument/2006/relationships/notesMaster" Target="/ppt/notesMasters/notesMaster1.xml" Id="R8413822a6c2a4a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01471d017343bc" /><Relationship Type="http://schemas.openxmlformats.org/officeDocument/2006/relationships/notesMaster" Target="/ppt/notesMasters/notesMaster1.xml" Id="R239cd4e829324b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482303e96b49ff" /><Relationship Type="http://schemas.openxmlformats.org/officeDocument/2006/relationships/notesMaster" Target="/ppt/notesMasters/notesMaster1.xml" Id="R5c3f38764ddc43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a8ad53f33047e2" /><Relationship Type="http://schemas.openxmlformats.org/officeDocument/2006/relationships/notesMaster" Target="/ppt/notesMasters/notesMaster1.xml" Id="R20055fac6ea042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b10a26e9fa4d53" /><Relationship Type="http://schemas.openxmlformats.org/officeDocument/2006/relationships/notesMaster" Target="/ppt/notesMasters/notesMaster1.xml" Id="R6724fc4d4db543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a1729ec9944b9f" /><Relationship Type="http://schemas.openxmlformats.org/officeDocument/2006/relationships/notesMaster" Target="/ppt/notesMasters/notesMaster1.xml" Id="Ra7b4edcef6f44b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a45f915b854853" /><Relationship Type="http://schemas.openxmlformats.org/officeDocument/2006/relationships/notesMaster" Target="/ppt/notesMasters/notesMaster1.xml" Id="R9ed86a315a7b4b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444e742c3f4d9f" /><Relationship Type="http://schemas.openxmlformats.org/officeDocument/2006/relationships/notesMaster" Target="/ppt/notesMasters/notesMaster1.xml" Id="Rd4d212c9123f46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75b8ffcc0d46ad" /><Relationship Type="http://schemas.openxmlformats.org/officeDocument/2006/relationships/notesMaster" Target="/ppt/notesMasters/notesMaster1.xml" Id="Rcec94695db4547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Assalomu alaykum. Men Yusufov Azizbek, AzYuBa jamoasidanman. BozorPulsAi loyihasi tadbirkorga xarid va moliyaviy qarorlarni ma’lumot asosida qabul qilishga yordam beradi. Biz bozorning pulsini, ya’ni narx va talabdagi o‘zgarishni biznesning kundalik hisobiga bog‘laymiz. Maqsadimiz tadbirkorning vaqtini tejash va xarid xarajatini oldindan ko‘rishiga yordam berish.</a:t>
            </a:r>
          </a:p>
          <a:p xmlns:a="http://schemas.openxmlformats.org/drawingml/2006/main">
            <a:r>
              <a:t/>
            </a:r>
          </a:p>
          <a:p xmlns:a="http://schemas.openxmlformats.org/drawingml/2006/main">
            <a:r>
              <a:t>Manba va farazlar: Foydalanuvchi bergan loyiha, asoschi va jamoa ma’lumotlari. Tasvir dekorativ bozor pulsi, haqiqiy statistik grafik emas.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Savdo-sanoat palatasi yo‘nalishida berilgan ikkita muammo bir-biriga bog‘liq. Narxlar va mavjud hajm haqida yagona ko‘rinish bo‘lmagani uchun tadbirkor ko‘p joydan so‘raydi. Narx topilgach, yetkazish, tannarx yoki kredit to‘lovining biznesga ta’sirini hisoblash qiyinlashadi. Natijada xarid qaroriga ortiqcha vaqt ketadi va rejalashtirilmagan xarajat paydo bo‘lishi mumkin. Bu yo‘qotishlar hajmini pilotda o‘lchaymiz.</a:t>
            </a:r>
          </a:p>
          <a:p xmlns:a="http://schemas.openxmlformats.org/drawingml/2006/main">
            <a:r>
              <a:t/>
            </a:r>
          </a:p>
          <a:p xmlns:a="http://schemas.openxmlformats.org/drawingml/2006/main">
            <a:r>
              <a:t>Manba va farazlar: Foydalanuvchi keltirgan xakaton muammolari, Bozor-Puls-Ai-TZ.md. Rasm sahnalashtirilgan AI konsepti, real mijoz intervyusining dalili emas.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Yechim to‘rtta bog‘liq xizmatdan iborat. Bozor tahlili mahsulot, nav, birlik va hududni hisobga olib takliflarni taqqoslaydi. Biznes reja vositasi tannarx, zararsizlik va kredit to‘lovini hisoblashga yordam beradi. Xarid va logistika bo‘limi mahsulot bilan yetkazishni birga ko‘rsatadi hamda so‘rov yuboradi. Daftar va qisqa darslar esa moliyaviy bilimni kundalik amaliyotga aylantiradi. Foydalanuvchi faqat raqamni emas, uning biznesiga ta’sirini tushunishi kerak.</a:t>
            </a:r>
          </a:p>
          <a:p xmlns:a="http://schemas.openxmlformats.org/drawingml/2006/main">
            <a:r>
              <a:t/>
            </a:r>
          </a:p>
          <a:p xmlns:a="http://schemas.openxmlformats.org/drawingml/2006/main">
            <a:r>
              <a:t>Manba va farazlar: Bozor-Puls-Ai-TZ.md, Learning, biznes reja, bozor, logistika va daftar bo‘limlari. Ushbu slayd mahsulot yo‘nalishini ko‘rsatadi. Haqiqiy narx va AI manbalari ulanishi kerak, holat 5-slaydda ajratilgan.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Keng platformani qurayotgan bo‘lsak ham boshlang‘ich mijozimiz aniq: Xorazmda tez-tez ulgurji oziq-ovqat xarid qiladigan do‘konlar, umumiy ovqatlanish korxonalari va kichik ishlab chiqaruvchilar. Yosh tadbirkorlar ham shu guruhda bo‘lishi mumkin. Yetkazib beruvchilar mahsulot va qoldiqni e’lon qiladi, ekspeditorlar tashish taklifini beradi. Dastlab mijozlarni shaxsan uchrashib va bozor vakillari bilan hamkorlik so‘rab jalb qilamiz.</a:t>
            </a:r>
          </a:p>
          <a:p xmlns:a="http://schemas.openxmlformats.org/drawingml/2006/main">
            <a:r>
              <a:t/>
            </a:r>
          </a:p>
          <a:p xmlns:a="http://schemas.openxmlformats.org/drawingml/2006/main">
            <a:r>
              <a:t>Manba va farazlar: Foydalanuvchi rollari va Bozor-Puls-Ai-TZ.md. Boshlang‘ich segment taklif. Business Aspects of Startups - ProSkill.pptx, ICP va founder-led sales. Mavjud mijozlar yoki shartnomalar borligi da’vo qilinmaydi.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oddiy o‘zbekcha savoldan vazifani tushunadi, tasdiqlangan ma’lumotni izohlaydi va biznes rejani tuzishda yordam beradi. Narxning manbasi hamda vaqti ko‘rinishi kerak. Nav va birlik mos kelmasa takliflarni teng deb solishtirmaymiz. Talabni platformadagi so‘rovlar signali sifatida baholaymiz. Tarix yetarli bo‘lmasa prognoz bermaymiz. Hisobni alohida kalkulyator tekshiradi, daftar qoralamasini foydalanuvchi tasdiqlaydi. Hozir frontend, Python backend, SQLite, login, e’lonlar va daftar mavjud. Haqiqiy AI, jonli narxlar va to‘lovlar uchun tashqi ulanishlar kerak.</a:t>
            </a:r>
          </a:p>
          <a:p xmlns:a="http://schemas.openxmlformats.org/drawingml/2006/main">
            <a:r>
              <a:t/>
            </a:r>
          </a:p>
          <a:p xmlns:a="http://schemas.openxmlformats.org/drawingml/2006/main">
            <a:r>
              <a:t>Manba va farazlar: Bozor-Puls-Fullstack/README.md, docs/SCOPE.md, docs/TEST-REPORT.md. Noutbuk tasviri AI bilan tayyorlangan konsept, ishlaydigan dastur skrinshoti emas. Slayddagi AI imkoniyatlari maqsadli funksiyalar, real provayder chaqiruvi sinovdan o‘tmagan.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 tonna mahsulot uchun ikkita taklifni solishtiraylik. A taklifda mahsulot 6,2 million, yetkazish 300 ming so‘m. B taklifda mahsulot 5,7 million, yetkazish 450 ming so‘m. B taklifning logistika xarajati qimmatroq, lekin yakuniy xarid qiymati 350 ming so‘m kam. Bu real narx emas, hisoblash misoli. Mahsulot navi, sifati va miqdori bir xil, qolgan xarajatlar teng deb oldik. Tejam aynan jami xarajat orqali aniqlanadi.</a:t>
            </a:r>
          </a:p>
          <a:p xmlns:a="http://schemas.openxmlformats.org/drawingml/2006/main">
            <a:r>
              <a:t/>
            </a:r>
          </a:p>
          <a:p xmlns:a="http://schemas.openxmlformats.org/drawingml/2006/main">
            <a:r>
              <a:t>Manba va farazlar: Bozor-Puls-Ai-TZ.md kalkulyator talablari. Shartli narxlar: 6 200 000 + 300 000 = 6 500 000; 5 700 000 + 450 000 = 6 150 000; farq 350 000 UZS. Tejam kafolati emas.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Yangi manbada beshta monetizatsiya yo‘li taklif qilingan. Pro obuna 100–150 ming so‘m, premium e’lon esa klik yoki oylik paket asosida. Escrow komissiyasi 0,5–1 foiz, logistika xizmati yo‘lkiraning 5–10 foizi, bank yo‘llanma haqi kredit summasining 0,5–1,5 foizi sifatida keltirilgan. Bular amaldagi shartnomalar emas, sinov takliflari. Savdo to‘lovida kim qancha to‘lashi va stavka bazasi oldindan kelishiladi. Reklama natijalari organik narx solishtirishdan ajratiladi. Himoyalangan to‘lov hamkor provayder orqali ishlaydi. Bank kredit ajratishga mustaqil qaror qiladi.</a:t>
            </a:r>
          </a:p>
          <a:p xmlns:a="http://schemas.openxmlformats.org/drawingml/2006/main">
            <a:r>
              <a:t/>
            </a:r>
          </a:p>
          <a:p xmlns:a="http://schemas.openxmlformats.org/drawingml/2006/main">
            <a:r>
              <a:t>Manba va farazlar: B2B-Platformasi-Daromad-Modeli(1)(1).pptx, 2–5-slaydlar. Oldingi 129 minglik muallif taklifi o‘rniga yangi manbadagi 100–150 ming oralig‘i olindi. Manbada komissiya bazasi va tomonlarga taqsimot to‘liq berilmagan, yakuniy shartnomada aniqlanadi. Barcha kanallar o‘zaro bog‘liq, daromad kafolati emas.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Manbadagi kengayish ssenariysini arifmetik jihatdan tekshirdik. O‘n ming faol foydalanuvchining yigirma foizi, ya’ni ikki mingi 150 mingdan to‘lasa, 300 million so‘m tushum chiqadi. Oyiga ellikta 300 millionlik kreditdan bir foiz yo‘llanma haqi 150 million so‘m bo‘ladi. Yigirma milliard so‘mlik escrow aylanmasining yarim foizi 100 million so‘m. Jami 550 million. Bu katta miqyosga chiqilgandagi shartli hisob, pilot natijasi emas. Logistika va reklama bu jamiga kiritilmagan. Sof foyda uchun barcha xarajatlarni ayirish zarur. Mavsumiylik xarid va logistika hajmiga ta’sir qilishi mumkin, uning miqdorini real ma’lumot bilan tekshiramiz.</a:t>
            </a:r>
          </a:p>
          <a:p xmlns:a="http://schemas.openxmlformats.org/drawingml/2006/main">
            <a:r>
              <a:t/>
            </a:r>
          </a:p>
          <a:p xmlns:a="http://schemas.openxmlformats.org/drawingml/2006/main">
            <a:r>
              <a:t>Manba va farazlar: B2B-Platformasi-Daromad-Modeli(1)(1).pptx, 7-slayd. Manbada sarlavha 600–800 mln desa-da, berilgan uch hisob yig‘indisi 550 mln. 50 × 300 mln = 15 mlrd kredit portfeli, uning 1% i 150 mln. 6-slayddagi haftalik tushumlar bu oylik hisobga qo‘shilmadi, takroriy hisob xavfi bor. 8-slayddagi 10–15 mlrd yillik tushum, 10 baravar hajm va 300–400% mavsumiy o‘sish dalillanmagan, prognoz sifatida olinmadi. Raqobatchi va dallol komissiyalari haqidagi tasdiqlanmagan foizlar ham kiritilmadi.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Sinovni olti haftaga rejalashtiramiz: o‘ttiz tadbirkor, uchta bozor va o‘nta mahsulot. Bu maqsad, erishilgan natija emas. Dastlabki ikki haftada foydalanuvchi intervyusi va ma’lumot manbalarini tekshiramiz. Keyingi ikki haftada kundalik xarid vazifalarida vaqt va xarajatni oldingi usul bilan solishtiramiz. Yakunda takroriy foydalanish va pullik obunaga tayyorlikni baholaymiz. Savdo-sanoat palatasi hamda bozor vakillaridan ishtirokchilar bilan bog‘lanish va ma’lumot hamkorligini so‘raymiz. Soha, biznes va texnik mentorlar bilan natijalarni ko‘rib chiqishga tayyormiz.</a:t>
            </a:r>
          </a:p>
          <a:p xmlns:a="http://schemas.openxmlformats.org/drawingml/2006/main">
            <a:r>
              <a:t/>
            </a:r>
          </a:p>
          <a:p xmlns:a="http://schemas.openxmlformats.org/drawingml/2006/main">
            <a:r>
              <a:t>Manba va farazlar: Pilot ko‘lami va muddati taklif, tasdiqlangan kelishuv emas. Bozor-Puls-Ai-TZ.md, 16–17-bo‘limlar. Startup Pitch Deck — Amaliy qo‘llanma.pdf: aniq so‘rov bilan yakunlash.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E’tiboringiz uchun rahmat. Savollaringizni kutamiz.</a:t>
            </a:r>
          </a:p>
          <a:p xmlns:a="http://schemas.openxmlformats.org/drawingml/2006/main">
            <a:r>
              <a:t/>
            </a:r>
          </a:p>
          <a:p xmlns:a="http://schemas.openxmlformats.org/drawingml/2006/main">
            <a:r>
              <a:t>Manba va farazlar: Foydalanuvchi so‘rovi: oxirgi sahifa Tamom bo‘lsin.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a2ffdfdee847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0469ed1449479a" /><Relationship Type="http://schemas.openxmlformats.org/officeDocument/2006/relationships/slideLayout" Target="/ppt/slideLayouts/slideLayout1.xml" Id="R92074bd499524e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074bd499524e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e4e86e0ba94c93" /><Relationship Type="http://schemas.openxmlformats.org/officeDocument/2006/relationships/image" Target="/ppt/media/image.png" Id="Rbeddf7bc82f2466a" /><Relationship Type="http://schemas.openxmlformats.org/officeDocument/2006/relationships/notesSlide" Target="/ppt/notesSlides/notesSlide1.xml" Id="R47b8f471399740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f92cfa50c347a0" /><Relationship Type="http://schemas.openxmlformats.org/officeDocument/2006/relationships/image" Target="/ppt/media/image2.png" Id="R6cb9746ea8e64b23" /><Relationship Type="http://schemas.openxmlformats.org/officeDocument/2006/relationships/notesSlide" Target="/ppt/notesSlides/notesSlide2.xml" Id="R0b837ffc1c874b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a388ef165a4fc8" /><Relationship Type="http://schemas.openxmlformats.org/officeDocument/2006/relationships/notesSlide" Target="/ppt/notesSlides/notesSlide3.xml" Id="Re891033474d245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6b648933a64146" /><Relationship Type="http://schemas.openxmlformats.org/officeDocument/2006/relationships/notesSlide" Target="/ppt/notesSlides/notesSlide4.xml" Id="R7ef291599e224d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e932980c5945c0" /><Relationship Type="http://schemas.openxmlformats.org/officeDocument/2006/relationships/image" Target="/ppt/media/image3.png" Id="Rbac4460db8854ce9" /><Relationship Type="http://schemas.openxmlformats.org/officeDocument/2006/relationships/notesSlide" Target="/ppt/notesSlides/notesSlide5.xml" Id="R3f613de161bd43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2b9bb01fd64a8b" /><Relationship Type="http://schemas.openxmlformats.org/officeDocument/2006/relationships/notesSlide" Target="/ppt/notesSlides/notesSlide6.xml" Id="Raeb83b75f1d944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15634670864b01" /><Relationship Type="http://schemas.openxmlformats.org/officeDocument/2006/relationships/notesSlide" Target="/ppt/notesSlides/notesSlide7.xml" Id="Rad37523524c543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99e179106f4e25" /><Relationship Type="http://schemas.openxmlformats.org/officeDocument/2006/relationships/notesSlide" Target="/ppt/notesSlides/notesSlide8.xml" Id="R374547a7ede545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c80e1a38c947ce" /><Relationship Type="http://schemas.openxmlformats.org/officeDocument/2006/relationships/notesSlide" Target="/ppt/notesSlides/notesSlide9.xml" Id="Rba7e6376ad964b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e8266cb7d44291" /><Relationship Type="http://schemas.openxmlformats.org/officeDocument/2006/relationships/notesSlide" Target="/ppt/notesSlides/notesSlide10.xml" Id="R683663b020514866" /></Relationships>
</file>

<file path=ppt/slides/slide1.xml><?xml version="1.0" encoding="utf-8"?>
<p:sld xmlns:p="http://schemas.openxmlformats.org/presentationml/2006/main">
  <p:cSld>
    <p:bg>
      <p:bgPr>
        <a:solidFill xmlns:a="http://schemas.openxmlformats.org/drawingml/2006/main">
          <a:srgbClr val="080E11"/>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eddf7bc82f2466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1AFF41-34E4-40D8-930D-67222E59FF6D}"/>
              </a:ext>
            </a:extLst>
          </p:cNvPr>
          <p:cNvSpPr>
            <a:spLocks xmlns:a="http://schemas.openxmlformats.org/drawingml/2006/main" noGrp="1"/>
          </p:cNvSpPr>
          <p:nvPr/>
        </p:nvSpPr>
        <p:spPr>
          <a:xfrm xmlns:a="http://schemas.openxmlformats.org/drawingml/2006/main">
            <a:off x="571500" y="3333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71F3B5"/>
                </a:solidFill>
                <a:latin typeface="Nimbus Sans"/>
                <a:ea typeface="Nimbus Sans"/>
                <a:cs typeface="Nimbus Sans"/>
              </a:defRPr>
            </a:pPr>
            <a:r>
              <a:rPr sz="1500" b="1">
                <a:solidFill>
                  <a:srgbClr val="71F3B5"/>
                </a:solidFill>
                <a:latin typeface="Nimbus Sans"/>
                <a:ea typeface="Nimbus Sans"/>
                <a:cs typeface="Nimbus Sans"/>
              </a:rPr>
              <a:t>AzYuBa</a:t>
            </a:r>
          </a:p>
        </p:txBody>
      </p:sp>
      <p:sp>
        <p:nvSpPr>
          <p:cNvPr id="3" name="">
            <a:extLst xmlns:a="http://schemas.openxmlformats.org/drawingml/2006/main">
              <a:ext uri="{FF2B5EF4-FFF2-40B4-BE49-F238E27FC236}">
                <a16:creationId xmlns:a16="http://schemas.microsoft.com/office/drawing/2014/main" id="{334E817F-CA68-4ED1-ADB3-F4361909DE56}"/>
              </a:ext>
            </a:extLst>
          </p:cNvPr>
          <p:cNvSpPr>
            <a:spLocks xmlns:a="http://schemas.openxmlformats.org/drawingml/2006/main" noGrp="1"/>
          </p:cNvSpPr>
          <p:nvPr/>
        </p:nvSpPr>
        <p:spPr>
          <a:xfrm xmlns:a="http://schemas.openxmlformats.org/drawingml/2006/main">
            <a:off x="11049000"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01</a:t>
            </a:r>
          </a:p>
        </p:txBody>
      </p:sp>
      <p:sp>
        <p:nvSpPr>
          <p:cNvPr id="4" name="">
            <a:extLst xmlns:a="http://schemas.openxmlformats.org/drawingml/2006/main">
              <a:ext uri="{FF2B5EF4-FFF2-40B4-BE49-F238E27FC236}">
                <a16:creationId xmlns:a16="http://schemas.microsoft.com/office/drawing/2014/main" id="{B965D186-2872-46C9-A232-7A5427759385}"/>
              </a:ext>
            </a:extLst>
          </p:cNvPr>
          <p:cNvSpPr>
            <a:spLocks xmlns:a="http://schemas.openxmlformats.org/drawingml/2006/main" noGrp="1"/>
          </p:cNvSpPr>
          <p:nvPr/>
        </p:nvSpPr>
        <p:spPr>
          <a:xfrm xmlns:a="http://schemas.openxmlformats.org/drawingml/2006/main">
            <a:off x="571500" y="1828800"/>
            <a:ext cx="83343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600" b="1">
                <a:solidFill>
                  <a:srgbClr val="F3F7F4"/>
                </a:solidFill>
                <a:latin typeface="Nimbus Sans"/>
                <a:ea typeface="Nimbus Sans"/>
                <a:cs typeface="Nimbus Sans"/>
              </a:defRPr>
            </a:pPr>
            <a:r>
              <a:rPr sz="6600" b="1">
                <a:solidFill>
                  <a:srgbClr val="F3F7F4"/>
                </a:solidFill>
                <a:latin typeface="Nimbus Sans"/>
                <a:ea typeface="Nimbus Sans"/>
                <a:cs typeface="Nimbus Sans"/>
              </a:rPr>
              <a:t>BozorPulsAi</a:t>
            </a:r>
          </a:p>
        </p:txBody>
      </p:sp>
      <p:sp>
        <p:nvSpPr>
          <p:cNvPr id="5" name="">
            <a:extLst xmlns:a="http://schemas.openxmlformats.org/drawingml/2006/main">
              <a:ext uri="{FF2B5EF4-FFF2-40B4-BE49-F238E27FC236}">
                <a16:creationId xmlns:a16="http://schemas.microsoft.com/office/drawing/2014/main" id="{F43B55DD-B6BE-4EF0-ABDA-86C1361CEA9F}"/>
              </a:ext>
            </a:extLst>
          </p:cNvPr>
          <p:cNvSpPr>
            <a:spLocks xmlns:a="http://schemas.openxmlformats.org/drawingml/2006/main" noGrp="1"/>
          </p:cNvSpPr>
          <p:nvPr/>
        </p:nvSpPr>
        <p:spPr>
          <a:xfrm xmlns:a="http://schemas.openxmlformats.org/drawingml/2006/main">
            <a:off x="571500" y="3209925"/>
            <a:ext cx="7286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975" b="1">
                <a:solidFill>
                  <a:srgbClr val="71F3B5"/>
                </a:solidFill>
                <a:latin typeface="Nimbus Sans"/>
                <a:ea typeface="Nimbus Sans"/>
                <a:cs typeface="Nimbus Sans"/>
              </a:defRPr>
            </a:pPr>
            <a:r>
              <a:rPr sz="3975" b="1">
                <a:solidFill>
                  <a:srgbClr val="71F3B5"/>
                </a:solidFill>
                <a:latin typeface="Nimbus Sans"/>
                <a:ea typeface="Nimbus Sans"/>
                <a:cs typeface="Nimbus Sans"/>
              </a:rPr>
              <a:t>Bozorni bil.</a:t>
            </a:r>
          </a:p>
          <a:p xmlns:a="http://schemas.openxmlformats.org/drawingml/2006/main">
            <a:pPr>
              <a:defRPr sz="3975" b="1">
                <a:solidFill>
                  <a:srgbClr val="71F3B5"/>
                </a:solidFill>
                <a:latin typeface="Nimbus Sans"/>
                <a:ea typeface="Nimbus Sans"/>
                <a:cs typeface="Nimbus Sans"/>
              </a:defRPr>
            </a:pPr>
            <a:r>
              <a:rPr sz="3975" b="1">
                <a:solidFill>
                  <a:srgbClr val="71F3B5"/>
                </a:solidFill>
                <a:latin typeface="Nimbus Sans"/>
                <a:ea typeface="Nimbus Sans"/>
                <a:cs typeface="Nimbus Sans"/>
              </a:rPr>
              <a:t>Hisob bilan qaror qil.</a:t>
            </a:r>
          </a:p>
        </p:txBody>
      </p:sp>
      <p:sp>
        <p:nvSpPr>
          <p:cNvPr id="6" name="">
            <a:extLst xmlns:a="http://schemas.openxmlformats.org/drawingml/2006/main">
              <a:ext uri="{FF2B5EF4-FFF2-40B4-BE49-F238E27FC236}">
                <a16:creationId xmlns:a16="http://schemas.microsoft.com/office/drawing/2014/main" id="{42BDE6DD-9647-4062-A19B-3EC813F297DD}"/>
              </a:ext>
            </a:extLst>
          </p:cNvPr>
          <p:cNvSpPr>
            <a:spLocks xmlns:a="http://schemas.openxmlformats.org/drawingml/2006/main" noGrp="1"/>
          </p:cNvSpPr>
          <p:nvPr/>
        </p:nvSpPr>
        <p:spPr>
          <a:xfrm xmlns:a="http://schemas.openxmlformats.org/drawingml/2006/main">
            <a:off x="571500" y="4914900"/>
            <a:ext cx="666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Tadbirkor uchun bozor tahlili va moliyaviy hisob</a:t>
            </a:r>
          </a:p>
        </p:txBody>
      </p:sp>
      <p:sp>
        <p:nvSpPr>
          <p:cNvPr id="7" name="">
            <a:extLst xmlns:a="http://schemas.openxmlformats.org/drawingml/2006/main">
              <a:ext uri="{FF2B5EF4-FFF2-40B4-BE49-F238E27FC236}">
                <a16:creationId xmlns:a16="http://schemas.microsoft.com/office/drawing/2014/main" id="{09A65EAB-6090-4641-B62D-C0E0064363B8}"/>
              </a:ext>
            </a:extLst>
          </p:cNvPr>
          <p:cNvSpPr>
            <a:spLocks xmlns:a="http://schemas.openxmlformats.org/drawingml/2006/main" noGrp="1"/>
          </p:cNvSpPr>
          <p:nvPr/>
        </p:nvSpPr>
        <p:spPr>
          <a:xfrm xmlns:a="http://schemas.openxmlformats.org/drawingml/2006/main">
            <a:off x="571500" y="5962650"/>
            <a:ext cx="571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F3F7F4"/>
                </a:solidFill>
                <a:latin typeface="Nimbus Sans"/>
                <a:ea typeface="Nimbus Sans"/>
                <a:cs typeface="Nimbus Sans"/>
              </a:defRPr>
            </a:pPr>
            <a:r>
              <a:rPr sz="2100" b="1">
                <a:solidFill>
                  <a:srgbClr val="F3F7F4"/>
                </a:solidFill>
                <a:latin typeface="Nimbus Sans"/>
                <a:ea typeface="Nimbus Sans"/>
                <a:cs typeface="Nimbus Sans"/>
              </a:rPr>
              <a:t>Yusufov Azizbek</a:t>
            </a:r>
          </a:p>
        </p:txBody>
      </p:sp>
      <p:sp>
        <p:nvSpPr>
          <p:cNvPr id="8" name="">
            <a:extLst xmlns:a="http://schemas.openxmlformats.org/drawingml/2006/main">
              <a:ext uri="{FF2B5EF4-FFF2-40B4-BE49-F238E27FC236}">
                <a16:creationId xmlns:a16="http://schemas.microsoft.com/office/drawing/2014/main" id="{D9199264-DF8D-448A-8BB8-C192A4AFBA4C}"/>
              </a:ext>
            </a:extLst>
          </p:cNvPr>
          <p:cNvSpPr>
            <a:spLocks xmlns:a="http://schemas.openxmlformats.org/drawingml/2006/main" noGrp="1"/>
          </p:cNvSpPr>
          <p:nvPr/>
        </p:nvSpPr>
        <p:spPr>
          <a:xfrm xmlns:a="http://schemas.openxmlformats.org/drawingml/2006/main">
            <a:off x="571500" y="63817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Loyiha asoschisi</a:t>
            </a:r>
          </a:p>
        </p:txBody>
      </p:sp>
    </p:spTree>
    <p:extLst>
      <p:ext uri="{BB962C8B-B14F-4D97-AF65-F5344CB8AC3E}">
        <p14:creationId xmlns:p14="http://schemas.microsoft.com/office/powerpoint/2010/main" val="718041955"/>
      </p:ext>
    </p:extLst>
  </p:cSld>
</p:sld>
</file>

<file path=ppt/slides/slide2.xml><?xml version="1.0" encoding="utf-8"?>
<p:sld xmlns:p="http://schemas.openxmlformats.org/presentationml/2006/main">
  <p:cSld>
    <p:bg>
      <p:bgPr>
        <a:solidFill xmlns:a="http://schemas.openxmlformats.org/drawingml/2006/main">
          <a:srgbClr val="080E11"/>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cb9746ea8e64b2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4B84017-F259-49A1-A111-4A7FE1ED9D29}"/>
              </a:ext>
            </a:extLst>
          </p:cNvPr>
          <p:cNvSpPr>
            <a:spLocks xmlns:a="http://schemas.openxmlformats.org/drawingml/2006/main" noGrp="1"/>
          </p:cNvSpPr>
          <p:nvPr/>
        </p:nvSpPr>
        <p:spPr>
          <a:xfrm xmlns:a="http://schemas.openxmlformats.org/drawingml/2006/main">
            <a:off x="571500" y="3333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A8BBB4"/>
                </a:solidFill>
                <a:latin typeface="Nimbus Sans"/>
                <a:ea typeface="Nimbus Sans"/>
                <a:cs typeface="Nimbus Sans"/>
              </a:defRPr>
            </a:pPr>
            <a:r>
              <a:rPr sz="1500" b="1">
                <a:solidFill>
                  <a:srgbClr val="A8BBB4"/>
                </a:solidFill>
                <a:latin typeface="Nimbus Sans"/>
                <a:ea typeface="Nimbus Sans"/>
                <a:cs typeface="Nimbus Sans"/>
              </a:rPr>
              <a:t>BozorPulsAi</a:t>
            </a:r>
          </a:p>
        </p:txBody>
      </p:sp>
      <p:sp>
        <p:nvSpPr>
          <p:cNvPr id="3" name="">
            <a:extLst xmlns:a="http://schemas.openxmlformats.org/drawingml/2006/main">
              <a:ext uri="{FF2B5EF4-FFF2-40B4-BE49-F238E27FC236}">
                <a16:creationId xmlns:a16="http://schemas.microsoft.com/office/drawing/2014/main" id="{600F3F27-B0BB-4F50-9DBF-432A7AD325E5}"/>
              </a:ext>
            </a:extLst>
          </p:cNvPr>
          <p:cNvSpPr>
            <a:spLocks xmlns:a="http://schemas.openxmlformats.org/drawingml/2006/main" noGrp="1"/>
          </p:cNvSpPr>
          <p:nvPr/>
        </p:nvSpPr>
        <p:spPr>
          <a:xfrm xmlns:a="http://schemas.openxmlformats.org/drawingml/2006/main">
            <a:off x="11049000"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02</a:t>
            </a:r>
          </a:p>
        </p:txBody>
      </p:sp>
      <p:sp>
        <p:nvSpPr>
          <p:cNvPr id="4" name="">
            <a:extLst xmlns:a="http://schemas.openxmlformats.org/drawingml/2006/main">
              <a:ext uri="{FF2B5EF4-FFF2-40B4-BE49-F238E27FC236}">
                <a16:creationId xmlns:a16="http://schemas.microsoft.com/office/drawing/2014/main" id="{55F05287-E69E-4D99-89A2-993C11D4BE93}"/>
              </a:ext>
            </a:extLst>
          </p:cNvPr>
          <p:cNvSpPr>
            <a:spLocks xmlns:a="http://schemas.openxmlformats.org/drawingml/2006/main" noGrp="1"/>
          </p:cNvSpPr>
          <p:nvPr/>
        </p:nvSpPr>
        <p:spPr>
          <a:xfrm xmlns:a="http://schemas.openxmlformats.org/drawingml/2006/main">
            <a:off x="571500" y="1362075"/>
            <a:ext cx="7000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F3F7F4"/>
                </a:solidFill>
                <a:latin typeface="Nimbus Sans"/>
                <a:ea typeface="Nimbus Sans"/>
                <a:cs typeface="Nimbus Sans"/>
              </a:defRPr>
            </a:pPr>
            <a:r>
              <a:rPr sz="4350" b="1">
                <a:solidFill>
                  <a:srgbClr val="F3F7F4"/>
                </a:solidFill>
                <a:latin typeface="Nimbus Sans"/>
                <a:ea typeface="Nimbus Sans"/>
                <a:cs typeface="Nimbus Sans"/>
              </a:rPr>
              <a:t>Ikki muammo.</a:t>
            </a:r>
          </a:p>
          <a:p xmlns:a="http://schemas.openxmlformats.org/drawingml/2006/main">
            <a:pPr>
              <a:defRPr sz="4350" b="1">
                <a:solidFill>
                  <a:srgbClr val="F3F7F4"/>
                </a:solidFill>
                <a:latin typeface="Nimbus Sans"/>
                <a:ea typeface="Nimbus Sans"/>
                <a:cs typeface="Nimbus Sans"/>
              </a:defRPr>
            </a:pPr>
            <a:r>
              <a:rPr sz="4350" b="1">
                <a:solidFill>
                  <a:srgbClr val="F3F7F4"/>
                </a:solidFill>
                <a:latin typeface="Nimbus Sans"/>
                <a:ea typeface="Nimbus Sans"/>
                <a:cs typeface="Nimbus Sans"/>
              </a:rPr>
              <a:t>Bitta xarid qarori.</a:t>
            </a:r>
          </a:p>
        </p:txBody>
      </p:sp>
      <p:sp>
        <p:nvSpPr>
          <p:cNvPr id="5" name="">
            <a:extLst xmlns:a="http://schemas.openxmlformats.org/drawingml/2006/main">
              <a:ext uri="{FF2B5EF4-FFF2-40B4-BE49-F238E27FC236}">
                <a16:creationId xmlns:a16="http://schemas.microsoft.com/office/drawing/2014/main" id="{D3E4571E-87D4-44DD-8EC0-2F16D026A1B3}"/>
              </a:ext>
            </a:extLst>
          </p:cNvPr>
          <p:cNvSpPr>
            <a:spLocks xmlns:a="http://schemas.openxmlformats.org/drawingml/2006/main" noGrp="1"/>
          </p:cNvSpPr>
          <p:nvPr/>
        </p:nvSpPr>
        <p:spPr>
          <a:xfrm xmlns:a="http://schemas.openxmlformats.org/drawingml/2006/main">
            <a:off x="571500" y="3352800"/>
            <a:ext cx="657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71F3B5"/>
                </a:solidFill>
                <a:latin typeface="Nimbus Sans"/>
                <a:ea typeface="Nimbus Sans"/>
                <a:cs typeface="Nimbus Sans"/>
              </a:defRPr>
            </a:pPr>
            <a:r>
              <a:rPr sz="2775" b="1">
                <a:solidFill>
                  <a:srgbClr val="71F3B5"/>
                </a:solidFill>
                <a:latin typeface="Nimbus Sans"/>
                <a:ea typeface="Nimbus Sans"/>
                <a:cs typeface="Nimbus Sans"/>
              </a:rPr>
              <a:t>Narxni topish qiyin</a:t>
            </a:r>
          </a:p>
        </p:txBody>
      </p:sp>
      <p:sp>
        <p:nvSpPr>
          <p:cNvPr id="6" name="">
            <a:extLst xmlns:a="http://schemas.openxmlformats.org/drawingml/2006/main">
              <a:ext uri="{FF2B5EF4-FFF2-40B4-BE49-F238E27FC236}">
                <a16:creationId xmlns:a16="http://schemas.microsoft.com/office/drawing/2014/main" id="{C17AEA5B-A753-423E-9275-CB9FA72E46CC}"/>
              </a:ext>
            </a:extLst>
          </p:cNvPr>
          <p:cNvSpPr>
            <a:spLocks xmlns:a="http://schemas.openxmlformats.org/drawingml/2006/main" noGrp="1"/>
          </p:cNvSpPr>
          <p:nvPr/>
        </p:nvSpPr>
        <p:spPr>
          <a:xfrm xmlns:a="http://schemas.openxmlformats.org/drawingml/2006/main">
            <a:off x="571500" y="3962400"/>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3F7F4"/>
                </a:solidFill>
                <a:latin typeface="Nimbus Sans"/>
                <a:ea typeface="Nimbus Sans"/>
                <a:cs typeface="Nimbus Sans"/>
              </a:defRPr>
            </a:pPr>
            <a:r>
              <a:rPr sz="2100" b="0">
                <a:solidFill>
                  <a:srgbClr val="F3F7F4"/>
                </a:solidFill>
                <a:latin typeface="Nimbus Sans"/>
                <a:ea typeface="Nimbus Sans"/>
                <a:cs typeface="Nimbus Sans"/>
              </a:rPr>
              <a:t>Narx, mavjud hajm va talab</a:t>
            </a:r>
          </a:p>
          <a:p xmlns:a="http://schemas.openxmlformats.org/drawingml/2006/main">
            <a:pPr>
              <a:defRPr sz="2100" b="0">
                <a:solidFill>
                  <a:srgbClr val="F3F7F4"/>
                </a:solidFill>
                <a:latin typeface="Nimbus Sans"/>
                <a:ea typeface="Nimbus Sans"/>
                <a:cs typeface="Nimbus Sans"/>
              </a:defRPr>
            </a:pPr>
            <a:r>
              <a:rPr sz="2100" b="0">
                <a:solidFill>
                  <a:srgbClr val="F3F7F4"/>
                </a:solidFill>
                <a:latin typeface="Nimbus Sans"/>
                <a:ea typeface="Nimbus Sans"/>
                <a:cs typeface="Nimbus Sans"/>
              </a:rPr>
              <a:t>haqidagi ma’lumotlar tarqoq.</a:t>
            </a:r>
          </a:p>
        </p:txBody>
      </p:sp>
      <p:sp>
        <p:nvSpPr>
          <p:cNvPr id="7" name="">
            <a:extLst xmlns:a="http://schemas.openxmlformats.org/drawingml/2006/main">
              <a:ext uri="{FF2B5EF4-FFF2-40B4-BE49-F238E27FC236}">
                <a16:creationId xmlns:a16="http://schemas.microsoft.com/office/drawing/2014/main" id="{0A5D2034-CB7E-4200-8C6A-FF1404E0AA55}"/>
              </a:ext>
            </a:extLst>
          </p:cNvPr>
          <p:cNvSpPr>
            <a:spLocks xmlns:a="http://schemas.openxmlformats.org/drawingml/2006/main" noGrp="1"/>
          </p:cNvSpPr>
          <p:nvPr/>
        </p:nvSpPr>
        <p:spPr>
          <a:xfrm xmlns:a="http://schemas.openxmlformats.org/drawingml/2006/main">
            <a:off x="571500" y="5076825"/>
            <a:ext cx="6810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F5AB83"/>
                </a:solidFill>
                <a:latin typeface="Nimbus Sans"/>
                <a:ea typeface="Nimbus Sans"/>
                <a:cs typeface="Nimbus Sans"/>
              </a:defRPr>
            </a:pPr>
            <a:r>
              <a:rPr sz="2775" b="1">
                <a:solidFill>
                  <a:srgbClr val="F5AB83"/>
                </a:solidFill>
                <a:latin typeface="Nimbus Sans"/>
                <a:ea typeface="Nimbus Sans"/>
                <a:cs typeface="Nimbus Sans"/>
              </a:rPr>
              <a:t>Xarajatni hisoblash qiyin</a:t>
            </a:r>
          </a:p>
        </p:txBody>
      </p:sp>
      <p:sp>
        <p:nvSpPr>
          <p:cNvPr id="8" name="">
            <a:extLst xmlns:a="http://schemas.openxmlformats.org/drawingml/2006/main">
              <a:ext uri="{FF2B5EF4-FFF2-40B4-BE49-F238E27FC236}">
                <a16:creationId xmlns:a16="http://schemas.microsoft.com/office/drawing/2014/main" id="{838F6481-0CA2-4BA6-81FD-CB3B9C33F792}"/>
              </a:ext>
            </a:extLst>
          </p:cNvPr>
          <p:cNvSpPr>
            <a:spLocks xmlns:a="http://schemas.openxmlformats.org/drawingml/2006/main" noGrp="1"/>
          </p:cNvSpPr>
          <p:nvPr/>
        </p:nvSpPr>
        <p:spPr>
          <a:xfrm xmlns:a="http://schemas.openxmlformats.org/drawingml/2006/main">
            <a:off x="571500" y="5686425"/>
            <a:ext cx="609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3F7F4"/>
                </a:solidFill>
                <a:latin typeface="Nimbus Sans"/>
                <a:ea typeface="Nimbus Sans"/>
                <a:cs typeface="Nimbus Sans"/>
              </a:defRPr>
            </a:pPr>
            <a:r>
              <a:rPr sz="2100" b="0">
                <a:solidFill>
                  <a:srgbClr val="F3F7F4"/>
                </a:solidFill>
                <a:latin typeface="Nimbus Sans"/>
                <a:ea typeface="Nimbus Sans"/>
                <a:cs typeface="Nimbus Sans"/>
              </a:rPr>
              <a:t>Tannarx, biznes reja va kredit</a:t>
            </a:r>
          </a:p>
          <a:p xmlns:a="http://schemas.openxmlformats.org/drawingml/2006/main">
            <a:pPr>
              <a:defRPr sz="2100" b="0">
                <a:solidFill>
                  <a:srgbClr val="F3F7F4"/>
                </a:solidFill>
                <a:latin typeface="Nimbus Sans"/>
                <a:ea typeface="Nimbus Sans"/>
                <a:cs typeface="Nimbus Sans"/>
              </a:defRPr>
            </a:pPr>
            <a:r>
              <a:rPr sz="2100" b="0">
                <a:solidFill>
                  <a:srgbClr val="F3F7F4"/>
                </a:solidFill>
                <a:latin typeface="Nimbus Sans"/>
                <a:ea typeface="Nimbus Sans"/>
                <a:cs typeface="Nimbus Sans"/>
              </a:rPr>
              <a:t>hisobida bilim yetishmaydi.</a:t>
            </a:r>
          </a:p>
        </p:txBody>
      </p:sp>
    </p:spTree>
    <p:extLst>
      <p:ext uri="{BB962C8B-B14F-4D97-AF65-F5344CB8AC3E}">
        <p14:creationId xmlns:p14="http://schemas.microsoft.com/office/powerpoint/2010/main" val="1383581583"/>
      </p:ext>
    </p:extLst>
  </p:cSld>
</p:sld>
</file>

<file path=ppt/slides/slide3.xml><?xml version="1.0" encoding="utf-8"?>
<p:sld xmlns:p="http://schemas.openxmlformats.org/presentationml/2006/main">
  <p:cSld>
    <p:bg>
      <p:bgPr>
        <a:solidFill xmlns:a="http://schemas.openxmlformats.org/drawingml/2006/main">
          <a:srgbClr val="080E1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5AE1277-03AF-4626-BB27-DB638B372F49}"/>
              </a:ext>
            </a:extLst>
          </p:cNvPr>
          <p:cNvSpPr>
            <a:spLocks xmlns:a="http://schemas.openxmlformats.org/drawingml/2006/main" noGrp="1"/>
          </p:cNvSpPr>
          <p:nvPr/>
        </p:nvSpPr>
        <p:spPr>
          <a:xfrm xmlns:a="http://schemas.openxmlformats.org/drawingml/2006/main">
            <a:off x="571500" y="3333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A8BBB4"/>
                </a:solidFill>
                <a:latin typeface="Nimbus Sans"/>
                <a:ea typeface="Nimbus Sans"/>
                <a:cs typeface="Nimbus Sans"/>
              </a:defRPr>
            </a:pPr>
            <a:r>
              <a:rPr sz="1500" b="1">
                <a:solidFill>
                  <a:srgbClr val="A8BBB4"/>
                </a:solidFill>
                <a:latin typeface="Nimbus Sans"/>
                <a:ea typeface="Nimbus Sans"/>
                <a:cs typeface="Nimbus Sans"/>
              </a:rPr>
              <a:t>BozorPulsAi</a:t>
            </a:r>
          </a:p>
        </p:txBody>
      </p:sp>
      <p:sp>
        <p:nvSpPr>
          <p:cNvPr id="2" name="">
            <a:extLst xmlns:a="http://schemas.openxmlformats.org/drawingml/2006/main">
              <a:ext uri="{FF2B5EF4-FFF2-40B4-BE49-F238E27FC236}">
                <a16:creationId xmlns:a16="http://schemas.microsoft.com/office/drawing/2014/main" id="{972AADD2-7A17-43F2-B020-1F671F1D71E8}"/>
              </a:ext>
            </a:extLst>
          </p:cNvPr>
          <p:cNvSpPr>
            <a:spLocks xmlns:a="http://schemas.openxmlformats.org/drawingml/2006/main" noGrp="1"/>
          </p:cNvSpPr>
          <p:nvPr/>
        </p:nvSpPr>
        <p:spPr>
          <a:xfrm xmlns:a="http://schemas.openxmlformats.org/drawingml/2006/main">
            <a:off x="11049000"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03</a:t>
            </a:r>
          </a:p>
        </p:txBody>
      </p:sp>
      <p:sp>
        <p:nvSpPr>
          <p:cNvPr id="3" name="">
            <a:extLst xmlns:a="http://schemas.openxmlformats.org/drawingml/2006/main">
              <a:ext uri="{FF2B5EF4-FFF2-40B4-BE49-F238E27FC236}">
                <a16:creationId xmlns:a16="http://schemas.microsoft.com/office/drawing/2014/main" id="{D24E0211-64D6-4F63-A84B-7A65B50150A1}"/>
              </a:ext>
            </a:extLst>
          </p:cNvPr>
          <p:cNvSpPr>
            <a:spLocks xmlns:a="http://schemas.openxmlformats.org/drawingml/2006/main" noGrp="1"/>
          </p:cNvSpPr>
          <p:nvPr/>
        </p:nvSpPr>
        <p:spPr>
          <a:xfrm xmlns:a="http://schemas.openxmlformats.org/drawingml/2006/main">
            <a:off x="571500" y="1133475"/>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3F7F4"/>
                </a:solidFill>
                <a:latin typeface="Nimbus Sans"/>
                <a:ea typeface="Nimbus Sans"/>
                <a:cs typeface="Nimbus Sans"/>
              </a:defRPr>
            </a:pPr>
            <a:r>
              <a:rPr sz="4050" b="1">
                <a:solidFill>
                  <a:srgbClr val="F3F7F4"/>
                </a:solidFill>
                <a:latin typeface="Nimbus Sans"/>
                <a:ea typeface="Nimbus Sans"/>
                <a:cs typeface="Nimbus Sans"/>
              </a:rPr>
              <a:t>Biz qanday yechim beramiz?</a:t>
            </a:r>
          </a:p>
        </p:txBody>
      </p:sp>
      <p:sp>
        <p:nvSpPr>
          <p:cNvPr id="4" name="">
            <a:extLst xmlns:a="http://schemas.openxmlformats.org/drawingml/2006/main">
              <a:ext uri="{FF2B5EF4-FFF2-40B4-BE49-F238E27FC236}">
                <a16:creationId xmlns:a16="http://schemas.microsoft.com/office/drawing/2014/main" id="{B9C8409B-F191-474F-8694-C68F7F2FE1C1}"/>
              </a:ext>
            </a:extLst>
          </p:cNvPr>
          <p:cNvSpPr>
            <a:spLocks xmlns:a="http://schemas.openxmlformats.org/drawingml/2006/main" noGrp="1"/>
          </p:cNvSpPr>
          <p:nvPr/>
        </p:nvSpPr>
        <p:spPr>
          <a:xfrm xmlns:a="http://schemas.openxmlformats.org/drawingml/2006/main">
            <a:off x="571500" y="2324100"/>
            <a:ext cx="85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71F3B5"/>
                </a:solidFill>
                <a:latin typeface="Nimbus Sans"/>
                <a:ea typeface="Nimbus Sans"/>
                <a:cs typeface="Nimbus Sans"/>
              </a:defRPr>
            </a:pPr>
            <a:r>
              <a:rPr sz="2775" b="1">
                <a:solidFill>
                  <a:srgbClr val="71F3B5"/>
                </a:solidFill>
                <a:latin typeface="Nimbus Sans"/>
                <a:ea typeface="Nimbus Sans"/>
                <a:cs typeface="Nimbus Sans"/>
              </a:rPr>
              <a:t>01</a:t>
            </a:r>
          </a:p>
        </p:txBody>
      </p:sp>
      <p:sp>
        <p:nvSpPr>
          <p:cNvPr id="5" name="">
            <a:extLst xmlns:a="http://schemas.openxmlformats.org/drawingml/2006/main">
              <a:ext uri="{FF2B5EF4-FFF2-40B4-BE49-F238E27FC236}">
                <a16:creationId xmlns:a16="http://schemas.microsoft.com/office/drawing/2014/main" id="{239CD7D2-BB71-46C0-8C9C-32363ED3E3A8}"/>
              </a:ext>
            </a:extLst>
          </p:cNvPr>
          <p:cNvSpPr>
            <a:spLocks xmlns:a="http://schemas.openxmlformats.org/drawingml/2006/main" noGrp="1"/>
          </p:cNvSpPr>
          <p:nvPr/>
        </p:nvSpPr>
        <p:spPr>
          <a:xfrm xmlns:a="http://schemas.openxmlformats.org/drawingml/2006/main">
            <a:off x="1581150" y="233362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F3F7F4"/>
                </a:solidFill>
                <a:latin typeface="Nimbus Sans"/>
                <a:ea typeface="Nimbus Sans"/>
                <a:cs typeface="Nimbus Sans"/>
              </a:defRPr>
            </a:pPr>
            <a:r>
              <a:rPr sz="2625" b="1">
                <a:solidFill>
                  <a:srgbClr val="F3F7F4"/>
                </a:solidFill>
                <a:latin typeface="Nimbus Sans"/>
                <a:ea typeface="Nimbus Sans"/>
                <a:cs typeface="Nimbus Sans"/>
              </a:rPr>
              <a:t>Bozor tahlili</a:t>
            </a:r>
          </a:p>
        </p:txBody>
      </p:sp>
      <p:sp>
        <p:nvSpPr>
          <p:cNvPr id="6" name="">
            <a:extLst xmlns:a="http://schemas.openxmlformats.org/drawingml/2006/main">
              <a:ext uri="{FF2B5EF4-FFF2-40B4-BE49-F238E27FC236}">
                <a16:creationId xmlns:a16="http://schemas.microsoft.com/office/drawing/2014/main" id="{8AF48A67-9A71-40E6-89CC-49B1CDE7D615}"/>
              </a:ext>
            </a:extLst>
          </p:cNvPr>
          <p:cNvSpPr>
            <a:spLocks xmlns:a="http://schemas.openxmlformats.org/drawingml/2006/main" noGrp="1"/>
          </p:cNvSpPr>
          <p:nvPr/>
        </p:nvSpPr>
        <p:spPr>
          <a:xfrm xmlns:a="http://schemas.openxmlformats.org/drawingml/2006/main">
            <a:off x="1581150" y="3019425"/>
            <a:ext cx="4333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Narxlarni mahsulot va hudud bo‘yicha</a:t>
            </a:r>
          </a:p>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solishtirish. Qulay taklifni topish.</a:t>
            </a:r>
          </a:p>
        </p:txBody>
      </p:sp>
      <p:sp>
        <p:nvSpPr>
          <p:cNvPr id="7" name="">
            <a:extLst xmlns:a="http://schemas.openxmlformats.org/drawingml/2006/main">
              <a:ext uri="{FF2B5EF4-FFF2-40B4-BE49-F238E27FC236}">
                <a16:creationId xmlns:a16="http://schemas.microsoft.com/office/drawing/2014/main" id="{C2F267FF-76CC-4131-9230-6B89E213574B}"/>
              </a:ext>
            </a:extLst>
          </p:cNvPr>
          <p:cNvSpPr>
            <a:spLocks xmlns:a="http://schemas.openxmlformats.org/drawingml/2006/main" noGrp="1"/>
          </p:cNvSpPr>
          <p:nvPr/>
        </p:nvSpPr>
        <p:spPr>
          <a:xfrm xmlns:a="http://schemas.openxmlformats.org/drawingml/2006/main">
            <a:off x="6610350" y="2324100"/>
            <a:ext cx="85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71F3B5"/>
                </a:solidFill>
                <a:latin typeface="Nimbus Sans"/>
                <a:ea typeface="Nimbus Sans"/>
                <a:cs typeface="Nimbus Sans"/>
              </a:defRPr>
            </a:pPr>
            <a:r>
              <a:rPr sz="2775" b="1">
                <a:solidFill>
                  <a:srgbClr val="71F3B5"/>
                </a:solidFill>
                <a:latin typeface="Nimbus Sans"/>
                <a:ea typeface="Nimbus Sans"/>
                <a:cs typeface="Nimbus Sans"/>
              </a:rPr>
              <a:t>02</a:t>
            </a:r>
          </a:p>
        </p:txBody>
      </p:sp>
      <p:sp>
        <p:nvSpPr>
          <p:cNvPr id="8" name="">
            <a:extLst xmlns:a="http://schemas.openxmlformats.org/drawingml/2006/main">
              <a:ext uri="{FF2B5EF4-FFF2-40B4-BE49-F238E27FC236}">
                <a16:creationId xmlns:a16="http://schemas.microsoft.com/office/drawing/2014/main" id="{7D434DF6-DEAA-4A25-8346-0D077F3854AF}"/>
              </a:ext>
            </a:extLst>
          </p:cNvPr>
          <p:cNvSpPr>
            <a:spLocks xmlns:a="http://schemas.openxmlformats.org/drawingml/2006/main" noGrp="1"/>
          </p:cNvSpPr>
          <p:nvPr/>
        </p:nvSpPr>
        <p:spPr>
          <a:xfrm xmlns:a="http://schemas.openxmlformats.org/drawingml/2006/main">
            <a:off x="7610475" y="23336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F3F7F4"/>
                </a:solidFill>
                <a:latin typeface="Nimbus Sans"/>
                <a:ea typeface="Nimbus Sans"/>
                <a:cs typeface="Nimbus Sans"/>
              </a:defRPr>
            </a:pPr>
            <a:r>
              <a:rPr sz="2625" b="1">
                <a:solidFill>
                  <a:srgbClr val="F3F7F4"/>
                </a:solidFill>
                <a:latin typeface="Nimbus Sans"/>
                <a:ea typeface="Nimbus Sans"/>
                <a:cs typeface="Nimbus Sans"/>
              </a:rPr>
              <a:t>Biznes reja</a:t>
            </a:r>
          </a:p>
        </p:txBody>
      </p:sp>
      <p:sp>
        <p:nvSpPr>
          <p:cNvPr id="9" name="">
            <a:extLst xmlns:a="http://schemas.openxmlformats.org/drawingml/2006/main">
              <a:ext uri="{FF2B5EF4-FFF2-40B4-BE49-F238E27FC236}">
                <a16:creationId xmlns:a16="http://schemas.microsoft.com/office/drawing/2014/main" id="{3F547EA0-0AEF-408F-A10A-0E7908E3536A}"/>
              </a:ext>
            </a:extLst>
          </p:cNvPr>
          <p:cNvSpPr>
            <a:spLocks xmlns:a="http://schemas.openxmlformats.org/drawingml/2006/main" noGrp="1"/>
          </p:cNvSpPr>
          <p:nvPr/>
        </p:nvSpPr>
        <p:spPr>
          <a:xfrm xmlns:a="http://schemas.openxmlformats.org/drawingml/2006/main">
            <a:off x="7610475" y="301942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Tannarx, foyda va kredit</a:t>
            </a:r>
          </a:p>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to‘lovini hisoblash.</a:t>
            </a:r>
          </a:p>
        </p:txBody>
      </p:sp>
      <p:sp>
        <p:nvSpPr>
          <p:cNvPr id="10" name="">
            <a:extLst xmlns:a="http://schemas.openxmlformats.org/drawingml/2006/main">
              <a:ext uri="{FF2B5EF4-FFF2-40B4-BE49-F238E27FC236}">
                <a16:creationId xmlns:a16="http://schemas.microsoft.com/office/drawing/2014/main" id="{820008CF-B4A2-4E50-8B76-AA9EF7BF1641}"/>
              </a:ext>
            </a:extLst>
          </p:cNvPr>
          <p:cNvSpPr>
            <a:spLocks xmlns:a="http://schemas.openxmlformats.org/drawingml/2006/main" noGrp="1"/>
          </p:cNvSpPr>
          <p:nvPr/>
        </p:nvSpPr>
        <p:spPr>
          <a:xfrm xmlns:a="http://schemas.openxmlformats.org/drawingml/2006/main">
            <a:off x="571500" y="4381500"/>
            <a:ext cx="85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71F3B5"/>
                </a:solidFill>
                <a:latin typeface="Nimbus Sans"/>
                <a:ea typeface="Nimbus Sans"/>
                <a:cs typeface="Nimbus Sans"/>
              </a:defRPr>
            </a:pPr>
            <a:r>
              <a:rPr sz="2775" b="1">
                <a:solidFill>
                  <a:srgbClr val="71F3B5"/>
                </a:solidFill>
                <a:latin typeface="Nimbus Sans"/>
                <a:ea typeface="Nimbus Sans"/>
                <a:cs typeface="Nimbus Sans"/>
              </a:rPr>
              <a:t>03</a:t>
            </a:r>
          </a:p>
        </p:txBody>
      </p:sp>
      <p:sp>
        <p:nvSpPr>
          <p:cNvPr id="11" name="">
            <a:extLst xmlns:a="http://schemas.openxmlformats.org/drawingml/2006/main">
              <a:ext uri="{FF2B5EF4-FFF2-40B4-BE49-F238E27FC236}">
                <a16:creationId xmlns:a16="http://schemas.microsoft.com/office/drawing/2014/main" id="{C36E5982-35A4-40CE-A831-D06FCC4F9132}"/>
              </a:ext>
            </a:extLst>
          </p:cNvPr>
          <p:cNvSpPr>
            <a:spLocks xmlns:a="http://schemas.openxmlformats.org/drawingml/2006/main" noGrp="1"/>
          </p:cNvSpPr>
          <p:nvPr/>
        </p:nvSpPr>
        <p:spPr>
          <a:xfrm xmlns:a="http://schemas.openxmlformats.org/drawingml/2006/main">
            <a:off x="1581150" y="4391025"/>
            <a:ext cx="466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F3F7F4"/>
                </a:solidFill>
                <a:latin typeface="Nimbus Sans"/>
                <a:ea typeface="Nimbus Sans"/>
                <a:cs typeface="Nimbus Sans"/>
              </a:defRPr>
            </a:pPr>
            <a:r>
              <a:rPr sz="2625" b="1">
                <a:solidFill>
                  <a:srgbClr val="F3F7F4"/>
                </a:solidFill>
                <a:latin typeface="Nimbus Sans"/>
                <a:ea typeface="Nimbus Sans"/>
                <a:cs typeface="Nimbus Sans"/>
              </a:rPr>
              <a:t>Xarid va logistika</a:t>
            </a:r>
          </a:p>
        </p:txBody>
      </p:sp>
      <p:sp>
        <p:nvSpPr>
          <p:cNvPr id="12" name="">
            <a:extLst xmlns:a="http://schemas.openxmlformats.org/drawingml/2006/main">
              <a:ext uri="{FF2B5EF4-FFF2-40B4-BE49-F238E27FC236}">
                <a16:creationId xmlns:a16="http://schemas.microsoft.com/office/drawing/2014/main" id="{3EA92C02-017D-409E-9E02-6E7CFC09D381}"/>
              </a:ext>
            </a:extLst>
          </p:cNvPr>
          <p:cNvSpPr>
            <a:spLocks xmlns:a="http://schemas.openxmlformats.org/drawingml/2006/main" noGrp="1"/>
          </p:cNvSpPr>
          <p:nvPr/>
        </p:nvSpPr>
        <p:spPr>
          <a:xfrm xmlns:a="http://schemas.openxmlformats.org/drawingml/2006/main">
            <a:off x="1581150" y="5076825"/>
            <a:ext cx="4667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Mahsulotga yetkazish narxini qo‘shish.</a:t>
            </a:r>
          </a:p>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Sotuvchi va ekspeditorga so‘rov berish.</a:t>
            </a:r>
          </a:p>
        </p:txBody>
      </p:sp>
      <p:sp>
        <p:nvSpPr>
          <p:cNvPr id="13" name="">
            <a:extLst xmlns:a="http://schemas.openxmlformats.org/drawingml/2006/main">
              <a:ext uri="{FF2B5EF4-FFF2-40B4-BE49-F238E27FC236}">
                <a16:creationId xmlns:a16="http://schemas.microsoft.com/office/drawing/2014/main" id="{EBABB221-0EBE-441A-90E4-0C764BF3178C}"/>
              </a:ext>
            </a:extLst>
          </p:cNvPr>
          <p:cNvSpPr>
            <a:spLocks xmlns:a="http://schemas.openxmlformats.org/drawingml/2006/main" noGrp="1"/>
          </p:cNvSpPr>
          <p:nvPr/>
        </p:nvSpPr>
        <p:spPr>
          <a:xfrm xmlns:a="http://schemas.openxmlformats.org/drawingml/2006/main">
            <a:off x="6610350" y="4381500"/>
            <a:ext cx="85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71F3B5"/>
                </a:solidFill>
                <a:latin typeface="Nimbus Sans"/>
                <a:ea typeface="Nimbus Sans"/>
                <a:cs typeface="Nimbus Sans"/>
              </a:defRPr>
            </a:pPr>
            <a:r>
              <a:rPr sz="2775" b="1">
                <a:solidFill>
                  <a:srgbClr val="71F3B5"/>
                </a:solidFill>
                <a:latin typeface="Nimbus Sans"/>
                <a:ea typeface="Nimbus Sans"/>
                <a:cs typeface="Nimbus Sans"/>
              </a:rPr>
              <a:t>04</a:t>
            </a:r>
          </a:p>
        </p:txBody>
      </p:sp>
      <p:sp>
        <p:nvSpPr>
          <p:cNvPr id="14" name="">
            <a:extLst xmlns:a="http://schemas.openxmlformats.org/drawingml/2006/main">
              <a:ext uri="{FF2B5EF4-FFF2-40B4-BE49-F238E27FC236}">
                <a16:creationId xmlns:a16="http://schemas.microsoft.com/office/drawing/2014/main" id="{FE01B467-EA43-4BF3-B312-4B679C6B48E2}"/>
              </a:ext>
            </a:extLst>
          </p:cNvPr>
          <p:cNvSpPr>
            <a:spLocks xmlns:a="http://schemas.openxmlformats.org/drawingml/2006/main" noGrp="1"/>
          </p:cNvSpPr>
          <p:nvPr/>
        </p:nvSpPr>
        <p:spPr>
          <a:xfrm xmlns:a="http://schemas.openxmlformats.org/drawingml/2006/main">
            <a:off x="7610475" y="4391025"/>
            <a:ext cx="40290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F3F7F4"/>
                </a:solidFill>
                <a:latin typeface="Nimbus Sans"/>
                <a:ea typeface="Nimbus Sans"/>
                <a:cs typeface="Nimbus Sans"/>
              </a:defRPr>
            </a:pPr>
            <a:r>
              <a:rPr sz="2625" b="1">
                <a:solidFill>
                  <a:srgbClr val="F3F7F4"/>
                </a:solidFill>
                <a:latin typeface="Nimbus Sans"/>
                <a:ea typeface="Nimbus Sans"/>
                <a:cs typeface="Nimbus Sans"/>
              </a:rPr>
              <a:t>Daftar va ta’lim</a:t>
            </a:r>
          </a:p>
        </p:txBody>
      </p:sp>
      <p:sp>
        <p:nvSpPr>
          <p:cNvPr id="15" name="">
            <a:extLst xmlns:a="http://schemas.openxmlformats.org/drawingml/2006/main">
              <a:ext uri="{FF2B5EF4-FFF2-40B4-BE49-F238E27FC236}">
                <a16:creationId xmlns:a16="http://schemas.microsoft.com/office/drawing/2014/main" id="{DD99D513-9607-4E00-A98B-9ADF72EFE622}"/>
              </a:ext>
            </a:extLst>
          </p:cNvPr>
          <p:cNvSpPr>
            <a:spLocks xmlns:a="http://schemas.openxmlformats.org/drawingml/2006/main" noGrp="1"/>
          </p:cNvSpPr>
          <p:nvPr/>
        </p:nvSpPr>
        <p:spPr>
          <a:xfrm xmlns:a="http://schemas.openxmlformats.org/drawingml/2006/main">
            <a:off x="7610475" y="5076825"/>
            <a:ext cx="40290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Kirim-chiqimni qayd qilish.</a:t>
            </a:r>
          </a:p>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Sodda darslar orqali hisobni o‘rganish.</a:t>
            </a:r>
          </a:p>
        </p:txBody>
      </p:sp>
    </p:spTree>
    <p:extLst>
      <p:ext uri="{BB962C8B-B14F-4D97-AF65-F5344CB8AC3E}">
        <p14:creationId xmlns:p14="http://schemas.microsoft.com/office/powerpoint/2010/main" val="109081852"/>
      </p:ext>
    </p:extLst>
  </p:cSld>
</p:sld>
</file>

<file path=ppt/slides/slide4.xml><?xml version="1.0" encoding="utf-8"?>
<p:sld xmlns:p="http://schemas.openxmlformats.org/presentationml/2006/main">
  <p:cSld>
    <p:bg>
      <p:bgPr>
        <a:solidFill xmlns:a="http://schemas.openxmlformats.org/drawingml/2006/main">
          <a:srgbClr val="080E1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8E8F91-EBB2-4BDF-BBEA-70822D10A7B1}"/>
              </a:ext>
            </a:extLst>
          </p:cNvPr>
          <p:cNvSpPr>
            <a:spLocks xmlns:a="http://schemas.openxmlformats.org/drawingml/2006/main" noGrp="1"/>
          </p:cNvSpPr>
          <p:nvPr/>
        </p:nvSpPr>
        <p:spPr>
          <a:xfrm xmlns:a="http://schemas.openxmlformats.org/drawingml/2006/main">
            <a:off x="571500" y="3333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A8BBB4"/>
                </a:solidFill>
                <a:latin typeface="Nimbus Sans"/>
                <a:ea typeface="Nimbus Sans"/>
                <a:cs typeface="Nimbus Sans"/>
              </a:defRPr>
            </a:pPr>
            <a:r>
              <a:rPr sz="1500" b="1">
                <a:solidFill>
                  <a:srgbClr val="A8BBB4"/>
                </a:solidFill>
                <a:latin typeface="Nimbus Sans"/>
                <a:ea typeface="Nimbus Sans"/>
                <a:cs typeface="Nimbus Sans"/>
              </a:rPr>
              <a:t>BozorPulsAi</a:t>
            </a:r>
          </a:p>
        </p:txBody>
      </p:sp>
      <p:sp>
        <p:nvSpPr>
          <p:cNvPr id="2" name="">
            <a:extLst xmlns:a="http://schemas.openxmlformats.org/drawingml/2006/main">
              <a:ext uri="{FF2B5EF4-FFF2-40B4-BE49-F238E27FC236}">
                <a16:creationId xmlns:a16="http://schemas.microsoft.com/office/drawing/2014/main" id="{1C08FC4B-AC9B-45BC-A515-688FF8EDAE0A}"/>
              </a:ext>
            </a:extLst>
          </p:cNvPr>
          <p:cNvSpPr>
            <a:spLocks xmlns:a="http://schemas.openxmlformats.org/drawingml/2006/main" noGrp="1"/>
          </p:cNvSpPr>
          <p:nvPr/>
        </p:nvSpPr>
        <p:spPr>
          <a:xfrm xmlns:a="http://schemas.openxmlformats.org/drawingml/2006/main">
            <a:off x="11049000"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04</a:t>
            </a:r>
          </a:p>
        </p:txBody>
      </p:sp>
      <p:sp>
        <p:nvSpPr>
          <p:cNvPr id="3" name="">
            <a:extLst xmlns:a="http://schemas.openxmlformats.org/drawingml/2006/main">
              <a:ext uri="{FF2B5EF4-FFF2-40B4-BE49-F238E27FC236}">
                <a16:creationId xmlns:a16="http://schemas.microsoft.com/office/drawing/2014/main" id="{FAB9BBB7-FA7E-492B-9773-0C658D33EE31}"/>
              </a:ext>
            </a:extLst>
          </p:cNvPr>
          <p:cNvSpPr>
            <a:spLocks xmlns:a="http://schemas.openxmlformats.org/drawingml/2006/main" noGrp="1"/>
          </p:cNvSpPr>
          <p:nvPr/>
        </p:nvSpPr>
        <p:spPr>
          <a:xfrm xmlns:a="http://schemas.openxmlformats.org/drawingml/2006/main">
            <a:off x="571500" y="11239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3F7F4"/>
                </a:solidFill>
                <a:latin typeface="Nimbus Sans"/>
                <a:ea typeface="Nimbus Sans"/>
                <a:cs typeface="Nimbus Sans"/>
              </a:defRPr>
            </a:pPr>
            <a:r>
              <a:rPr sz="4050" b="1">
                <a:solidFill>
                  <a:srgbClr val="F3F7F4"/>
                </a:solidFill>
                <a:latin typeface="Nimbus Sans"/>
                <a:ea typeface="Nimbus Sans"/>
                <a:cs typeface="Nimbus Sans"/>
              </a:rPr>
              <a:t>Platforma kim uchun?</a:t>
            </a:r>
          </a:p>
        </p:txBody>
      </p:sp>
      <p:sp>
        <p:nvSpPr>
          <p:cNvPr id="4" name="">
            <a:extLst xmlns:a="http://schemas.openxmlformats.org/drawingml/2006/main">
              <a:ext uri="{FF2B5EF4-FFF2-40B4-BE49-F238E27FC236}">
                <a16:creationId xmlns:a16="http://schemas.microsoft.com/office/drawing/2014/main" id="{18397871-D9A9-4FF9-93A0-59A8CAABF5C9}"/>
              </a:ext>
            </a:extLst>
          </p:cNvPr>
          <p:cNvSpPr>
            <a:spLocks xmlns:a="http://schemas.openxmlformats.org/drawingml/2006/main" noGrp="1"/>
          </p:cNvSpPr>
          <p:nvPr/>
        </p:nvSpPr>
        <p:spPr>
          <a:xfrm xmlns:a="http://schemas.openxmlformats.org/drawingml/2006/main">
            <a:off x="571500" y="2562225"/>
            <a:ext cx="3962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1">
                <a:solidFill>
                  <a:srgbClr val="71F3B5"/>
                </a:solidFill>
                <a:latin typeface="Nimbus Sans"/>
                <a:ea typeface="Nimbus Sans"/>
                <a:cs typeface="Nimbus Sans"/>
              </a:defRPr>
            </a:pPr>
            <a:r>
              <a:rPr sz="3675" b="1">
                <a:solidFill>
                  <a:srgbClr val="71F3B5"/>
                </a:solidFill>
                <a:latin typeface="Nimbus Sans"/>
                <a:ea typeface="Nimbus Sans"/>
                <a:cs typeface="Nimbus Sans"/>
              </a:rPr>
              <a:t>Birinchi</a:t>
            </a:r>
          </a:p>
          <a:p xmlns:a="http://schemas.openxmlformats.org/drawingml/2006/main">
            <a:pPr>
              <a:defRPr sz="3675" b="1">
                <a:solidFill>
                  <a:srgbClr val="71F3B5"/>
                </a:solidFill>
                <a:latin typeface="Nimbus Sans"/>
                <a:ea typeface="Nimbus Sans"/>
                <a:cs typeface="Nimbus Sans"/>
              </a:defRPr>
            </a:pPr>
            <a:r>
              <a:rPr sz="3675" b="1">
                <a:solidFill>
                  <a:srgbClr val="71F3B5"/>
                </a:solidFill>
                <a:latin typeface="Nimbus Sans"/>
                <a:ea typeface="Nimbus Sans"/>
                <a:cs typeface="Nimbus Sans"/>
              </a:rPr>
              <a:t>segment</a:t>
            </a:r>
          </a:p>
        </p:txBody>
      </p:sp>
      <p:sp>
        <p:nvSpPr>
          <p:cNvPr id="5" name="">
            <a:extLst xmlns:a="http://schemas.openxmlformats.org/drawingml/2006/main">
              <a:ext uri="{FF2B5EF4-FFF2-40B4-BE49-F238E27FC236}">
                <a16:creationId xmlns:a16="http://schemas.microsoft.com/office/drawing/2014/main" id="{D161FAF6-3BAF-427A-8446-5E087B8D0CAD}"/>
              </a:ext>
            </a:extLst>
          </p:cNvPr>
          <p:cNvSpPr>
            <a:spLocks xmlns:a="http://schemas.openxmlformats.org/drawingml/2006/main" noGrp="1"/>
          </p:cNvSpPr>
          <p:nvPr/>
        </p:nvSpPr>
        <p:spPr>
          <a:xfrm xmlns:a="http://schemas.openxmlformats.org/drawingml/2006/main">
            <a:off x="571500" y="3952875"/>
            <a:ext cx="40005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F3F7F4"/>
                </a:solidFill>
                <a:latin typeface="Nimbus Sans"/>
                <a:ea typeface="Nimbus Sans"/>
                <a:cs typeface="Nimbus Sans"/>
              </a:defRPr>
            </a:pPr>
            <a:r>
              <a:rPr sz="2325" b="0">
                <a:solidFill>
                  <a:srgbClr val="F3F7F4"/>
                </a:solidFill>
                <a:latin typeface="Nimbus Sans"/>
                <a:ea typeface="Nimbus Sans"/>
                <a:cs typeface="Nimbus Sans"/>
              </a:rPr>
              <a:t>Xorazmdagi ulgurji</a:t>
            </a:r>
          </a:p>
          <a:p xmlns:a="http://schemas.openxmlformats.org/drawingml/2006/main">
            <a:pPr>
              <a:defRPr sz="2325" b="0">
                <a:solidFill>
                  <a:srgbClr val="F3F7F4"/>
                </a:solidFill>
                <a:latin typeface="Nimbus Sans"/>
                <a:ea typeface="Nimbus Sans"/>
                <a:cs typeface="Nimbus Sans"/>
              </a:defRPr>
            </a:pPr>
            <a:r>
              <a:rPr sz="2325" b="0">
                <a:solidFill>
                  <a:srgbClr val="F3F7F4"/>
                </a:solidFill>
                <a:latin typeface="Nimbus Sans"/>
                <a:ea typeface="Nimbus Sans"/>
                <a:cs typeface="Nimbus Sans"/>
              </a:rPr>
              <a:t>oziq-ovqat xarid qiluvchi</a:t>
            </a:r>
          </a:p>
          <a:p xmlns:a="http://schemas.openxmlformats.org/drawingml/2006/main">
            <a:pPr>
              <a:defRPr sz="2325" b="0">
                <a:solidFill>
                  <a:srgbClr val="F3F7F4"/>
                </a:solidFill>
                <a:latin typeface="Nimbus Sans"/>
                <a:ea typeface="Nimbus Sans"/>
                <a:cs typeface="Nimbus Sans"/>
              </a:defRPr>
            </a:pPr>
            <a:r>
              <a:rPr sz="2325" b="0">
                <a:solidFill>
                  <a:srgbClr val="F3F7F4"/>
                </a:solidFill>
                <a:latin typeface="Nimbus Sans"/>
                <a:ea typeface="Nimbus Sans"/>
                <a:cs typeface="Nimbus Sans"/>
              </a:rPr>
              <a:t>kichik bizneslar</a:t>
            </a:r>
          </a:p>
        </p:txBody>
      </p:sp>
      <p:sp>
        <p:nvSpPr>
          <p:cNvPr id="6" name="">
            <a:extLst xmlns:a="http://schemas.openxmlformats.org/drawingml/2006/main">
              <a:ext uri="{FF2B5EF4-FFF2-40B4-BE49-F238E27FC236}">
                <a16:creationId xmlns:a16="http://schemas.microsoft.com/office/drawing/2014/main" id="{9D0A9E6B-1094-4FD3-A073-681EA6B052E2}"/>
              </a:ext>
            </a:extLst>
          </p:cNvPr>
          <p:cNvSpPr>
            <a:spLocks xmlns:a="http://schemas.openxmlformats.org/drawingml/2006/main" noGrp="1"/>
          </p:cNvSpPr>
          <p:nvPr/>
        </p:nvSpPr>
        <p:spPr>
          <a:xfrm xmlns:a="http://schemas.openxmlformats.org/drawingml/2006/main">
            <a:off x="571500" y="5857875"/>
            <a:ext cx="4286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A8BBB4"/>
                </a:solidFill>
                <a:latin typeface="Nimbus Sans"/>
                <a:ea typeface="Nimbus Sans"/>
                <a:cs typeface="Nimbus Sans"/>
              </a:defRPr>
            </a:pPr>
            <a:r>
              <a:rPr sz="1650" b="0">
                <a:solidFill>
                  <a:srgbClr val="A8BBB4"/>
                </a:solidFill>
                <a:latin typeface="Nimbus Sans"/>
                <a:ea typeface="Nimbus Sans"/>
                <a:cs typeface="Nimbus Sans"/>
              </a:rPr>
              <a:t>Keyin boshqa soha va hududlar</a:t>
            </a:r>
          </a:p>
        </p:txBody>
      </p:sp>
      <p:sp>
        <p:nvSpPr>
          <p:cNvPr id="7" name="">
            <a:extLst xmlns:a="http://schemas.openxmlformats.org/drawingml/2006/main">
              <a:ext uri="{FF2B5EF4-FFF2-40B4-BE49-F238E27FC236}">
                <a16:creationId xmlns:a16="http://schemas.microsoft.com/office/drawing/2014/main" id="{7F8D12C6-E0F1-4481-8A83-D8AAEEDB126D}"/>
              </a:ext>
            </a:extLst>
          </p:cNvPr>
          <p:cNvSpPr>
            <a:spLocks xmlns:a="http://schemas.openxmlformats.org/drawingml/2006/main" noGrp="1"/>
          </p:cNvSpPr>
          <p:nvPr/>
        </p:nvSpPr>
        <p:spPr>
          <a:xfrm xmlns:a="http://schemas.openxmlformats.org/drawingml/2006/main">
            <a:off x="5257800" y="2219325"/>
            <a:ext cx="633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F3F7F4"/>
                </a:solidFill>
                <a:latin typeface="Nimbus Sans"/>
                <a:ea typeface="Nimbus Sans"/>
                <a:cs typeface="Nimbus Sans"/>
              </a:defRPr>
            </a:pPr>
            <a:r>
              <a:rPr sz="2625" b="1">
                <a:solidFill>
                  <a:srgbClr val="F3F7F4"/>
                </a:solidFill>
                <a:latin typeface="Nimbus Sans"/>
                <a:ea typeface="Nimbus Sans"/>
                <a:cs typeface="Nimbus Sans"/>
              </a:rPr>
              <a:t>Tadbirkor</a:t>
            </a:r>
          </a:p>
        </p:txBody>
      </p:sp>
      <p:sp>
        <p:nvSpPr>
          <p:cNvPr id="8" name="">
            <a:extLst xmlns:a="http://schemas.openxmlformats.org/drawingml/2006/main">
              <a:ext uri="{FF2B5EF4-FFF2-40B4-BE49-F238E27FC236}">
                <a16:creationId xmlns:a16="http://schemas.microsoft.com/office/drawing/2014/main" id="{5C838DC5-55D3-4751-9817-C6EEB60BA82B}"/>
              </a:ext>
            </a:extLst>
          </p:cNvPr>
          <p:cNvSpPr>
            <a:spLocks xmlns:a="http://schemas.openxmlformats.org/drawingml/2006/main" noGrp="1"/>
          </p:cNvSpPr>
          <p:nvPr/>
        </p:nvSpPr>
        <p:spPr>
          <a:xfrm xmlns:a="http://schemas.openxmlformats.org/drawingml/2006/main">
            <a:off x="5257800" y="2752725"/>
            <a:ext cx="6334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Do‘kon, oshxona yoki ishlab chiqaruvchi.</a:t>
            </a:r>
          </a:p>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Xarid va biznes byudjetini rejalashtiradi.</a:t>
            </a:r>
          </a:p>
        </p:txBody>
      </p:sp>
      <p:sp>
        <p:nvSpPr>
          <p:cNvPr id="9" name="">
            <a:extLst xmlns:a="http://schemas.openxmlformats.org/drawingml/2006/main">
              <a:ext uri="{FF2B5EF4-FFF2-40B4-BE49-F238E27FC236}">
                <a16:creationId xmlns:a16="http://schemas.microsoft.com/office/drawing/2014/main" id="{3D888C56-EED9-43FE-BC56-9DEE8AE1F7CF}"/>
              </a:ext>
            </a:extLst>
          </p:cNvPr>
          <p:cNvSpPr>
            <a:spLocks xmlns:a="http://schemas.openxmlformats.org/drawingml/2006/main" noGrp="1"/>
          </p:cNvSpPr>
          <p:nvPr/>
        </p:nvSpPr>
        <p:spPr>
          <a:xfrm xmlns:a="http://schemas.openxmlformats.org/drawingml/2006/main">
            <a:off x="5257800" y="3705225"/>
            <a:ext cx="633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F3F7F4"/>
                </a:solidFill>
                <a:latin typeface="Nimbus Sans"/>
                <a:ea typeface="Nimbus Sans"/>
                <a:cs typeface="Nimbus Sans"/>
              </a:defRPr>
            </a:pPr>
            <a:r>
              <a:rPr sz="2625" b="1">
                <a:solidFill>
                  <a:srgbClr val="F3F7F4"/>
                </a:solidFill>
                <a:latin typeface="Nimbus Sans"/>
                <a:ea typeface="Nimbus Sans"/>
                <a:cs typeface="Nimbus Sans"/>
              </a:rPr>
              <a:t>Yetkazib beruvchi</a:t>
            </a:r>
          </a:p>
        </p:txBody>
      </p:sp>
      <p:sp>
        <p:nvSpPr>
          <p:cNvPr id="10" name="">
            <a:extLst xmlns:a="http://schemas.openxmlformats.org/drawingml/2006/main">
              <a:ext uri="{FF2B5EF4-FFF2-40B4-BE49-F238E27FC236}">
                <a16:creationId xmlns:a16="http://schemas.microsoft.com/office/drawing/2014/main" id="{61C795EA-3E5B-4148-B2AD-60734A8161C6}"/>
              </a:ext>
            </a:extLst>
          </p:cNvPr>
          <p:cNvSpPr>
            <a:spLocks xmlns:a="http://schemas.openxmlformats.org/drawingml/2006/main" noGrp="1"/>
          </p:cNvSpPr>
          <p:nvPr/>
        </p:nvSpPr>
        <p:spPr>
          <a:xfrm xmlns:a="http://schemas.openxmlformats.org/drawingml/2006/main">
            <a:off x="5257800" y="4238625"/>
            <a:ext cx="6334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Mahsulot, narx va qoldiqni e’lon qiladi.</a:t>
            </a:r>
          </a:p>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Xaridorlardan buyurtma so‘rovi oladi.</a:t>
            </a:r>
          </a:p>
        </p:txBody>
      </p:sp>
      <p:sp>
        <p:nvSpPr>
          <p:cNvPr id="11" name="">
            <a:extLst xmlns:a="http://schemas.openxmlformats.org/drawingml/2006/main">
              <a:ext uri="{FF2B5EF4-FFF2-40B4-BE49-F238E27FC236}">
                <a16:creationId xmlns:a16="http://schemas.microsoft.com/office/drawing/2014/main" id="{AD45C2F6-BD31-4CAE-B179-453372FB20C1}"/>
              </a:ext>
            </a:extLst>
          </p:cNvPr>
          <p:cNvSpPr>
            <a:spLocks xmlns:a="http://schemas.openxmlformats.org/drawingml/2006/main" noGrp="1"/>
          </p:cNvSpPr>
          <p:nvPr/>
        </p:nvSpPr>
        <p:spPr>
          <a:xfrm xmlns:a="http://schemas.openxmlformats.org/drawingml/2006/main">
            <a:off x="5257800" y="5219700"/>
            <a:ext cx="633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F3F7F4"/>
                </a:solidFill>
                <a:latin typeface="Nimbus Sans"/>
                <a:ea typeface="Nimbus Sans"/>
                <a:cs typeface="Nimbus Sans"/>
              </a:defRPr>
            </a:pPr>
            <a:r>
              <a:rPr sz="2625" b="1">
                <a:solidFill>
                  <a:srgbClr val="F3F7F4"/>
                </a:solidFill>
                <a:latin typeface="Nimbus Sans"/>
                <a:ea typeface="Nimbus Sans"/>
                <a:cs typeface="Nimbus Sans"/>
              </a:rPr>
              <a:t>Ekspeditor</a:t>
            </a:r>
          </a:p>
        </p:txBody>
      </p:sp>
      <p:sp>
        <p:nvSpPr>
          <p:cNvPr id="12" name="">
            <a:extLst xmlns:a="http://schemas.openxmlformats.org/drawingml/2006/main">
              <a:ext uri="{FF2B5EF4-FFF2-40B4-BE49-F238E27FC236}">
                <a16:creationId xmlns:a16="http://schemas.microsoft.com/office/drawing/2014/main" id="{597E369F-0368-436B-9288-CE778B15A980}"/>
              </a:ext>
            </a:extLst>
          </p:cNvPr>
          <p:cNvSpPr>
            <a:spLocks xmlns:a="http://schemas.openxmlformats.org/drawingml/2006/main" noGrp="1"/>
          </p:cNvSpPr>
          <p:nvPr/>
        </p:nvSpPr>
        <p:spPr>
          <a:xfrm xmlns:a="http://schemas.openxmlformats.org/drawingml/2006/main">
            <a:off x="5257800" y="5753100"/>
            <a:ext cx="6334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Yuk tashish so‘rovlarini oladi.</a:t>
            </a:r>
          </a:p>
          <a:p xmlns:a="http://schemas.openxmlformats.org/drawingml/2006/main">
            <a:pPr>
              <a:defRPr sz="2025" b="0">
                <a:solidFill>
                  <a:srgbClr val="A8BBB4"/>
                </a:solidFill>
                <a:latin typeface="Nimbus Sans"/>
                <a:ea typeface="Nimbus Sans"/>
                <a:cs typeface="Nimbus Sans"/>
              </a:defRPr>
            </a:pPr>
            <a:r>
              <a:rPr sz="2025" b="0">
                <a:solidFill>
                  <a:srgbClr val="A8BBB4"/>
                </a:solidFill>
                <a:latin typeface="Nimbus Sans"/>
                <a:ea typeface="Nimbus Sans"/>
                <a:cs typeface="Nimbus Sans"/>
              </a:rPr>
              <a:t>Safar xarajati va xizmat haqini hisoblaydi.</a:t>
            </a:r>
          </a:p>
        </p:txBody>
      </p:sp>
    </p:spTree>
    <p:extLst>
      <p:ext uri="{BB962C8B-B14F-4D97-AF65-F5344CB8AC3E}">
        <p14:creationId xmlns:p14="http://schemas.microsoft.com/office/powerpoint/2010/main" val="1219845943"/>
      </p:ext>
    </p:extLst>
  </p:cSld>
</p:sld>
</file>

<file path=ppt/slides/slide5.xml><?xml version="1.0" encoding="utf-8"?>
<p:sld xmlns:p="http://schemas.openxmlformats.org/presentationml/2006/main">
  <p:cSld>
    <p:bg>
      <p:bgPr>
        <a:solidFill xmlns:a="http://schemas.openxmlformats.org/drawingml/2006/main">
          <a:srgbClr val="080E11"/>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ac4460db8854ce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3BBBBC0-E3FA-4AE8-9BF5-EDCDEB5C7BE8}"/>
              </a:ext>
            </a:extLst>
          </p:cNvPr>
          <p:cNvSpPr>
            <a:spLocks xmlns:a="http://schemas.openxmlformats.org/drawingml/2006/main" noGrp="1"/>
          </p:cNvSpPr>
          <p:nvPr/>
        </p:nvSpPr>
        <p:spPr>
          <a:xfrm xmlns:a="http://schemas.openxmlformats.org/drawingml/2006/main">
            <a:off x="571500" y="3333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A8BBB4"/>
                </a:solidFill>
                <a:latin typeface="Nimbus Sans"/>
                <a:ea typeface="Nimbus Sans"/>
                <a:cs typeface="Nimbus Sans"/>
              </a:defRPr>
            </a:pPr>
            <a:r>
              <a:rPr sz="1500" b="1">
                <a:solidFill>
                  <a:srgbClr val="A8BBB4"/>
                </a:solidFill>
                <a:latin typeface="Nimbus Sans"/>
                <a:ea typeface="Nimbus Sans"/>
                <a:cs typeface="Nimbus Sans"/>
              </a:rPr>
              <a:t>BozorPulsAi</a:t>
            </a:r>
          </a:p>
        </p:txBody>
      </p:sp>
      <p:sp>
        <p:nvSpPr>
          <p:cNvPr id="3" name="">
            <a:extLst xmlns:a="http://schemas.openxmlformats.org/drawingml/2006/main">
              <a:ext uri="{FF2B5EF4-FFF2-40B4-BE49-F238E27FC236}">
                <a16:creationId xmlns:a16="http://schemas.microsoft.com/office/drawing/2014/main" id="{228D449B-A7C7-4BC3-9BED-0253E41015CF}"/>
              </a:ext>
            </a:extLst>
          </p:cNvPr>
          <p:cNvSpPr>
            <a:spLocks xmlns:a="http://schemas.openxmlformats.org/drawingml/2006/main" noGrp="1"/>
          </p:cNvSpPr>
          <p:nvPr/>
        </p:nvSpPr>
        <p:spPr>
          <a:xfrm xmlns:a="http://schemas.openxmlformats.org/drawingml/2006/main">
            <a:off x="11049000"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05</a:t>
            </a:r>
          </a:p>
        </p:txBody>
      </p:sp>
      <p:sp>
        <p:nvSpPr>
          <p:cNvPr id="4" name="">
            <a:extLst xmlns:a="http://schemas.openxmlformats.org/drawingml/2006/main">
              <a:ext uri="{FF2B5EF4-FFF2-40B4-BE49-F238E27FC236}">
                <a16:creationId xmlns:a16="http://schemas.microsoft.com/office/drawing/2014/main" id="{24C58D38-C458-4DCC-ADD9-8B807BB1D1B6}"/>
              </a:ext>
            </a:extLst>
          </p:cNvPr>
          <p:cNvSpPr>
            <a:spLocks xmlns:a="http://schemas.openxmlformats.org/drawingml/2006/main" noGrp="1"/>
          </p:cNvSpPr>
          <p:nvPr/>
        </p:nvSpPr>
        <p:spPr>
          <a:xfrm xmlns:a="http://schemas.openxmlformats.org/drawingml/2006/main">
            <a:off x="571500" y="654367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A8BBB4"/>
                </a:solidFill>
                <a:latin typeface="Nimbus Sans"/>
                <a:ea typeface="Nimbus Sans"/>
                <a:cs typeface="Nimbus Sans"/>
              </a:defRPr>
            </a:pPr>
            <a:r>
              <a:rPr sz="1275" b="0">
                <a:solidFill>
                  <a:srgbClr val="A8BBB4"/>
                </a:solidFill>
                <a:latin typeface="Nimbus Sans"/>
                <a:ea typeface="Nimbus Sans"/>
                <a:cs typeface="Nimbus Sans"/>
              </a:rPr>
              <a:t>AI va jonli narx manbalari ulanishi kerak</a:t>
            </a:r>
          </a:p>
        </p:txBody>
      </p:sp>
      <p:sp>
        <p:nvSpPr>
          <p:cNvPr id="5" name="">
            <a:extLst xmlns:a="http://schemas.openxmlformats.org/drawingml/2006/main">
              <a:ext uri="{FF2B5EF4-FFF2-40B4-BE49-F238E27FC236}">
                <a16:creationId xmlns:a16="http://schemas.microsoft.com/office/drawing/2014/main" id="{4A7B2FB4-8001-4432-8AE5-08C7690EE9AC}"/>
              </a:ext>
            </a:extLst>
          </p:cNvPr>
          <p:cNvSpPr>
            <a:spLocks xmlns:a="http://schemas.openxmlformats.org/drawingml/2006/main" noGrp="1"/>
          </p:cNvSpPr>
          <p:nvPr/>
        </p:nvSpPr>
        <p:spPr>
          <a:xfrm xmlns:a="http://schemas.openxmlformats.org/drawingml/2006/main">
            <a:off x="8239125" y="333375"/>
            <a:ext cx="252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Interfeys konsepti</a:t>
            </a:r>
          </a:p>
        </p:txBody>
      </p:sp>
      <p:sp>
        <p:nvSpPr>
          <p:cNvPr id="6" name="">
            <a:extLst xmlns:a="http://schemas.openxmlformats.org/drawingml/2006/main">
              <a:ext uri="{FF2B5EF4-FFF2-40B4-BE49-F238E27FC236}">
                <a16:creationId xmlns:a16="http://schemas.microsoft.com/office/drawing/2014/main" id="{29F58387-32CB-4A7A-97A8-D2A7B8F20045}"/>
              </a:ext>
            </a:extLst>
          </p:cNvPr>
          <p:cNvSpPr>
            <a:spLocks xmlns:a="http://schemas.openxmlformats.org/drawingml/2006/main" noGrp="1"/>
          </p:cNvSpPr>
          <p:nvPr/>
        </p:nvSpPr>
        <p:spPr>
          <a:xfrm xmlns:a="http://schemas.openxmlformats.org/drawingml/2006/main">
            <a:off x="571500" y="1409700"/>
            <a:ext cx="490537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3F7F4"/>
                </a:solidFill>
                <a:latin typeface="Nimbus Sans"/>
                <a:ea typeface="Nimbus Sans"/>
                <a:cs typeface="Nimbus Sans"/>
              </a:defRPr>
            </a:pPr>
            <a:r>
              <a:rPr sz="4050" b="1">
                <a:solidFill>
                  <a:srgbClr val="F3F7F4"/>
                </a:solidFill>
                <a:latin typeface="Nimbus Sans"/>
                <a:ea typeface="Nimbus Sans"/>
                <a:cs typeface="Nimbus Sans"/>
              </a:rPr>
              <a:t>AI qanday</a:t>
            </a:r>
          </a:p>
          <a:p xmlns:a="http://schemas.openxmlformats.org/drawingml/2006/main">
            <a:pPr>
              <a:defRPr sz="4050" b="1">
                <a:solidFill>
                  <a:srgbClr val="F3F7F4"/>
                </a:solidFill>
                <a:latin typeface="Nimbus Sans"/>
                <a:ea typeface="Nimbus Sans"/>
                <a:cs typeface="Nimbus Sans"/>
              </a:defRPr>
            </a:pPr>
            <a:r>
              <a:rPr sz="4050" b="1">
                <a:solidFill>
                  <a:srgbClr val="F3F7F4"/>
                </a:solidFill>
                <a:latin typeface="Nimbus Sans"/>
                <a:ea typeface="Nimbus Sans"/>
                <a:cs typeface="Nimbus Sans"/>
              </a:rPr>
              <a:t>yordam</a:t>
            </a:r>
          </a:p>
          <a:p xmlns:a="http://schemas.openxmlformats.org/drawingml/2006/main">
            <a:pPr>
              <a:defRPr sz="4050" b="1">
                <a:solidFill>
                  <a:srgbClr val="F3F7F4"/>
                </a:solidFill>
                <a:latin typeface="Nimbus Sans"/>
                <a:ea typeface="Nimbus Sans"/>
                <a:cs typeface="Nimbus Sans"/>
              </a:defRPr>
            </a:pPr>
            <a:r>
              <a:rPr sz="4050" b="1">
                <a:solidFill>
                  <a:srgbClr val="F3F7F4"/>
                </a:solidFill>
                <a:latin typeface="Nimbus Sans"/>
                <a:ea typeface="Nimbus Sans"/>
                <a:cs typeface="Nimbus Sans"/>
              </a:rPr>
              <a:t>beradi?</a:t>
            </a:r>
          </a:p>
        </p:txBody>
      </p:sp>
      <p:sp>
        <p:nvSpPr>
          <p:cNvPr id="7" name="">
            <a:extLst xmlns:a="http://schemas.openxmlformats.org/drawingml/2006/main">
              <a:ext uri="{FF2B5EF4-FFF2-40B4-BE49-F238E27FC236}">
                <a16:creationId xmlns:a16="http://schemas.microsoft.com/office/drawing/2014/main" id="{6A9B58AF-C4DA-4BFA-B1A4-22EF992986A0}"/>
              </a:ext>
            </a:extLst>
          </p:cNvPr>
          <p:cNvSpPr>
            <a:spLocks xmlns:a="http://schemas.openxmlformats.org/drawingml/2006/main" noGrp="1"/>
          </p:cNvSpPr>
          <p:nvPr/>
        </p:nvSpPr>
        <p:spPr>
          <a:xfrm xmlns:a="http://schemas.openxmlformats.org/drawingml/2006/main">
            <a:off x="571500" y="3790950"/>
            <a:ext cx="4657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71F3B5"/>
                </a:solidFill>
                <a:latin typeface="Nimbus Sans"/>
                <a:ea typeface="Nimbus Sans"/>
                <a:cs typeface="Nimbus Sans"/>
              </a:defRPr>
            </a:pPr>
            <a:r>
              <a:rPr sz="2175" b="1">
                <a:solidFill>
                  <a:srgbClr val="71F3B5"/>
                </a:solidFill>
                <a:latin typeface="Nimbus Sans"/>
                <a:ea typeface="Nimbus Sans"/>
                <a:cs typeface="Nimbus Sans"/>
              </a:rPr>
              <a:t>Narx o‘zgarishini tushuntirish</a:t>
            </a:r>
          </a:p>
        </p:txBody>
      </p:sp>
      <p:sp>
        <p:nvSpPr>
          <p:cNvPr id="8" name="">
            <a:extLst xmlns:a="http://schemas.openxmlformats.org/drawingml/2006/main">
              <a:ext uri="{FF2B5EF4-FFF2-40B4-BE49-F238E27FC236}">
                <a16:creationId xmlns:a16="http://schemas.microsoft.com/office/drawing/2014/main" id="{99DBFFA3-C1A1-4E5B-AA5C-2D04822F50B5}"/>
              </a:ext>
            </a:extLst>
          </p:cNvPr>
          <p:cNvSpPr>
            <a:spLocks xmlns:a="http://schemas.openxmlformats.org/drawingml/2006/main" noGrp="1"/>
          </p:cNvSpPr>
          <p:nvPr/>
        </p:nvSpPr>
        <p:spPr>
          <a:xfrm xmlns:a="http://schemas.openxmlformats.org/drawingml/2006/main">
            <a:off x="571500" y="4419600"/>
            <a:ext cx="4800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71F3B5"/>
                </a:solidFill>
                <a:latin typeface="Nimbus Sans"/>
                <a:ea typeface="Nimbus Sans"/>
                <a:cs typeface="Nimbus Sans"/>
              </a:defRPr>
            </a:pPr>
            <a:r>
              <a:rPr sz="2175" b="1">
                <a:solidFill>
                  <a:srgbClr val="71F3B5"/>
                </a:solidFill>
                <a:latin typeface="Nimbus Sans"/>
                <a:ea typeface="Nimbus Sans"/>
                <a:cs typeface="Nimbus Sans"/>
              </a:rPr>
              <a:t>Biznes reja bo‘yicha yordam</a:t>
            </a:r>
          </a:p>
        </p:txBody>
      </p:sp>
      <p:sp>
        <p:nvSpPr>
          <p:cNvPr id="9" name="">
            <a:extLst xmlns:a="http://schemas.openxmlformats.org/drawingml/2006/main">
              <a:ext uri="{FF2B5EF4-FFF2-40B4-BE49-F238E27FC236}">
                <a16:creationId xmlns:a16="http://schemas.microsoft.com/office/drawing/2014/main" id="{AD265EAE-6064-49DB-88B8-7FC52463E3BF}"/>
              </a:ext>
            </a:extLst>
          </p:cNvPr>
          <p:cNvSpPr>
            <a:spLocks xmlns:a="http://schemas.openxmlformats.org/drawingml/2006/main" noGrp="1"/>
          </p:cNvSpPr>
          <p:nvPr/>
        </p:nvSpPr>
        <p:spPr>
          <a:xfrm xmlns:a="http://schemas.openxmlformats.org/drawingml/2006/main">
            <a:off x="571500" y="5048250"/>
            <a:ext cx="4838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71F3B5"/>
                </a:solidFill>
                <a:latin typeface="Nimbus Sans"/>
                <a:ea typeface="Nimbus Sans"/>
                <a:cs typeface="Nimbus Sans"/>
              </a:defRPr>
            </a:pPr>
            <a:r>
              <a:rPr sz="2175" b="1">
                <a:solidFill>
                  <a:srgbClr val="71F3B5"/>
                </a:solidFill>
                <a:latin typeface="Nimbus Sans"/>
                <a:ea typeface="Nimbus Sans"/>
                <a:cs typeface="Nimbus Sans"/>
              </a:rPr>
              <a:t>Ovozdan daftar qoralamasi</a:t>
            </a:r>
          </a:p>
        </p:txBody>
      </p:sp>
      <p:sp>
        <p:nvSpPr>
          <p:cNvPr id="10" name="">
            <a:extLst xmlns:a="http://schemas.openxmlformats.org/drawingml/2006/main">
              <a:ext uri="{FF2B5EF4-FFF2-40B4-BE49-F238E27FC236}">
                <a16:creationId xmlns:a16="http://schemas.microsoft.com/office/drawing/2014/main" id="{328DD6B0-CA4D-4EFD-A838-F7AF6645CC85}"/>
              </a:ext>
            </a:extLst>
          </p:cNvPr>
          <p:cNvSpPr>
            <a:spLocks xmlns:a="http://schemas.openxmlformats.org/drawingml/2006/main" noGrp="1"/>
          </p:cNvSpPr>
          <p:nvPr/>
        </p:nvSpPr>
        <p:spPr>
          <a:xfrm xmlns:a="http://schemas.openxmlformats.org/drawingml/2006/main">
            <a:off x="571500" y="5762625"/>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F3F7F4"/>
                </a:solidFill>
                <a:latin typeface="Nimbus Sans"/>
                <a:ea typeface="Nimbus Sans"/>
                <a:cs typeface="Nimbus Sans"/>
              </a:defRPr>
            </a:pPr>
            <a:r>
              <a:rPr sz="1725" b="0">
                <a:solidFill>
                  <a:srgbClr val="F3F7F4"/>
                </a:solidFill>
                <a:latin typeface="Nimbus Sans"/>
                <a:ea typeface="Nimbus Sans"/>
                <a:cs typeface="Nimbus Sans"/>
              </a:rPr>
              <a:t>Hisobni kalkulyator bajaradi.</a:t>
            </a:r>
          </a:p>
          <a:p xmlns:a="http://schemas.openxmlformats.org/drawingml/2006/main">
            <a:pPr>
              <a:defRPr sz="1725" b="0">
                <a:solidFill>
                  <a:srgbClr val="F3F7F4"/>
                </a:solidFill>
                <a:latin typeface="Nimbus Sans"/>
                <a:ea typeface="Nimbus Sans"/>
                <a:cs typeface="Nimbus Sans"/>
              </a:defRPr>
            </a:pPr>
            <a:r>
              <a:rPr sz="1725" b="0">
                <a:solidFill>
                  <a:srgbClr val="F3F7F4"/>
                </a:solidFill>
                <a:latin typeface="Nimbus Sans"/>
                <a:ea typeface="Nimbus Sans"/>
                <a:cs typeface="Nimbus Sans"/>
              </a:rPr>
              <a:t>Yozuvni foydalanuvchi tasdiqlaydi.</a:t>
            </a:r>
          </a:p>
        </p:txBody>
      </p:sp>
    </p:spTree>
    <p:extLst>
      <p:ext uri="{BB962C8B-B14F-4D97-AF65-F5344CB8AC3E}">
        <p14:creationId xmlns:p14="http://schemas.microsoft.com/office/powerpoint/2010/main" val="1687735892"/>
      </p:ext>
    </p:extLst>
  </p:cSld>
</p:sld>
</file>

<file path=ppt/slides/slide6.xml><?xml version="1.0" encoding="utf-8"?>
<p:sld xmlns:p="http://schemas.openxmlformats.org/presentationml/2006/main">
  <p:cSld>
    <p:bg>
      <p:bgPr>
        <a:solidFill xmlns:a="http://schemas.openxmlformats.org/drawingml/2006/main">
          <a:srgbClr val="080E1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4D349A-5745-49BC-8DA2-BD50677F210D}"/>
              </a:ext>
            </a:extLst>
          </p:cNvPr>
          <p:cNvSpPr>
            <a:spLocks xmlns:a="http://schemas.openxmlformats.org/drawingml/2006/main" noGrp="1"/>
          </p:cNvSpPr>
          <p:nvPr/>
        </p:nvSpPr>
        <p:spPr>
          <a:xfrm xmlns:a="http://schemas.openxmlformats.org/drawingml/2006/main">
            <a:off x="571500" y="3333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A8BBB4"/>
                </a:solidFill>
                <a:latin typeface="Nimbus Sans"/>
                <a:ea typeface="Nimbus Sans"/>
                <a:cs typeface="Nimbus Sans"/>
              </a:defRPr>
            </a:pPr>
            <a:r>
              <a:rPr sz="1500" b="1">
                <a:solidFill>
                  <a:srgbClr val="A8BBB4"/>
                </a:solidFill>
                <a:latin typeface="Nimbus Sans"/>
                <a:ea typeface="Nimbus Sans"/>
                <a:cs typeface="Nimbus Sans"/>
              </a:rPr>
              <a:t>BozorPulsAi</a:t>
            </a:r>
          </a:p>
        </p:txBody>
      </p:sp>
      <p:sp>
        <p:nvSpPr>
          <p:cNvPr id="2" name="">
            <a:extLst xmlns:a="http://schemas.openxmlformats.org/drawingml/2006/main">
              <a:ext uri="{FF2B5EF4-FFF2-40B4-BE49-F238E27FC236}">
                <a16:creationId xmlns:a16="http://schemas.microsoft.com/office/drawing/2014/main" id="{4E6787E7-4B4B-460D-B4C1-B1CC5F3A596F}"/>
              </a:ext>
            </a:extLst>
          </p:cNvPr>
          <p:cNvSpPr>
            <a:spLocks xmlns:a="http://schemas.openxmlformats.org/drawingml/2006/main" noGrp="1"/>
          </p:cNvSpPr>
          <p:nvPr/>
        </p:nvSpPr>
        <p:spPr>
          <a:xfrm xmlns:a="http://schemas.openxmlformats.org/drawingml/2006/main">
            <a:off x="11049000"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06</a:t>
            </a:r>
          </a:p>
        </p:txBody>
      </p:sp>
      <p:sp>
        <p:nvSpPr>
          <p:cNvPr id="3" name="">
            <a:extLst xmlns:a="http://schemas.openxmlformats.org/drawingml/2006/main">
              <a:ext uri="{FF2B5EF4-FFF2-40B4-BE49-F238E27FC236}">
                <a16:creationId xmlns:a16="http://schemas.microsoft.com/office/drawing/2014/main" id="{01D7E429-5AE8-4802-8B01-D75F5121A1F0}"/>
              </a:ext>
            </a:extLst>
          </p:cNvPr>
          <p:cNvSpPr>
            <a:spLocks xmlns:a="http://schemas.openxmlformats.org/drawingml/2006/main" noGrp="1"/>
          </p:cNvSpPr>
          <p:nvPr/>
        </p:nvSpPr>
        <p:spPr>
          <a:xfrm xmlns:a="http://schemas.openxmlformats.org/drawingml/2006/main">
            <a:off x="571500" y="11239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3F7F4"/>
                </a:solidFill>
                <a:latin typeface="Nimbus Sans"/>
                <a:ea typeface="Nimbus Sans"/>
                <a:cs typeface="Nimbus Sans"/>
              </a:defRPr>
            </a:pPr>
            <a:r>
              <a:rPr sz="4050" b="1">
                <a:solidFill>
                  <a:srgbClr val="F3F7F4"/>
                </a:solidFill>
                <a:latin typeface="Nimbus Sans"/>
                <a:ea typeface="Nimbus Sans"/>
                <a:cs typeface="Nimbus Sans"/>
              </a:rPr>
              <a:t>Qaror qanday foyda beradi?</a:t>
            </a:r>
          </a:p>
        </p:txBody>
      </p:sp>
      <p:sp>
        <p:nvSpPr>
          <p:cNvPr id="4" name="">
            <a:extLst xmlns:a="http://schemas.openxmlformats.org/drawingml/2006/main">
              <a:ext uri="{FF2B5EF4-FFF2-40B4-BE49-F238E27FC236}">
                <a16:creationId xmlns:a16="http://schemas.microsoft.com/office/drawing/2014/main" id="{E3197DA4-96B2-4C05-B95C-C840633C2371}"/>
              </a:ext>
            </a:extLst>
          </p:cNvPr>
          <p:cNvSpPr>
            <a:spLocks xmlns:a="http://schemas.openxmlformats.org/drawingml/2006/main" noGrp="1"/>
          </p:cNvSpPr>
          <p:nvPr/>
        </p:nvSpPr>
        <p:spPr>
          <a:xfrm xmlns:a="http://schemas.openxmlformats.org/drawingml/2006/main">
            <a:off x="571500" y="2000250"/>
            <a:ext cx="1100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A8BBB4"/>
                </a:solidFill>
                <a:latin typeface="Nimbus Sans"/>
                <a:ea typeface="Nimbus Sans"/>
                <a:cs typeface="Nimbus Sans"/>
              </a:defRPr>
            </a:pPr>
            <a:r>
              <a:rPr sz="2100" b="0">
                <a:solidFill>
                  <a:srgbClr val="A8BBB4"/>
                </a:solidFill>
                <a:latin typeface="Nimbus Sans"/>
                <a:ea typeface="Nimbus Sans"/>
                <a:cs typeface="Nimbus Sans"/>
              </a:rPr>
              <a:t>1 tonna mahsulot uchun shartli hisob</a:t>
            </a:r>
          </a:p>
        </p:txBody>
      </p:sp>
      <p:graphicFrame>
        <p:nvGraphicFramePr>
          <p:cNvPr id="15" name=""/>
          <p:cNvGraphicFramePr/>
          <p:nvPr/>
        </p:nvGraphicFramePr>
        <p:xfrm>
          <a:off xmlns:a="http://schemas.openxmlformats.org/drawingml/2006/main" x="571500" y="2762250"/>
          <a:ext xmlns:a="http://schemas.openxmlformats.org/drawingml/2006/main" cx="7048500" cy="2466975"/>
        </p:xfrm>
        <a:graphic xmlns:a="http://schemas.openxmlformats.org/drawingml/2006/main">
          <a:graphicData uri="http://schemas.openxmlformats.org/drawingml/2006/table">
            <a:tbl>
              <a:tblPr/>
              <a:tblGrid>
                <a:gridCol w="2857500"/>
                <a:gridCol w="2095500"/>
                <a:gridCol w="2095500"/>
              </a:tblGrid>
              <a:tr h="616744">
                <a:tc>
                  <a:txBody>
                    <a:bodyPr/>
                    <a:lstStyle/>
                    <a:p>
                      <a:r>
                        <a:rPr sz="1650" b="1">
                          <a:solidFill>
                            <a:srgbClr val="71F3B5"/>
                          </a:solidFill>
                          <a:latin typeface="Nimbus Sans"/>
                          <a:ea typeface="Nimbus Sans"/>
                          <a:cs typeface="Nimbus Sans"/>
                        </a:rPr>
                        <a:t>Xarajat</a:t>
                      </a:r>
                    </a:p>
                  </a:txBody>
                  <a:tcPr marL="91440" marR="91440" marT="45720" marB="45720">
                    <a:solidFill>
                      <a:srgbClr val="123027"/>
                    </a:solidFill>
                  </a:tcPr>
                </a:tc>
                <a:tc>
                  <a:txBody>
                    <a:bodyPr/>
                    <a:lstStyle/>
                    <a:p>
                      <a:r>
                        <a:rPr sz="1650" b="1">
                          <a:solidFill>
                            <a:srgbClr val="71F3B5"/>
                          </a:solidFill>
                          <a:latin typeface="Nimbus Sans"/>
                          <a:ea typeface="Nimbus Sans"/>
                          <a:cs typeface="Nimbus Sans"/>
                        </a:rPr>
                        <a:t>A taklif</a:t>
                      </a:r>
                    </a:p>
                  </a:txBody>
                  <a:tcPr marL="91440" marR="91440" marT="45720" marB="45720">
                    <a:solidFill>
                      <a:srgbClr val="123027"/>
                    </a:solidFill>
                  </a:tcPr>
                </a:tc>
                <a:tc>
                  <a:txBody>
                    <a:bodyPr/>
                    <a:lstStyle/>
                    <a:p>
                      <a:r>
                        <a:rPr sz="1650" b="1">
                          <a:solidFill>
                            <a:srgbClr val="71F3B5"/>
                          </a:solidFill>
                          <a:latin typeface="Nimbus Sans"/>
                          <a:ea typeface="Nimbus Sans"/>
                          <a:cs typeface="Nimbus Sans"/>
                        </a:rPr>
                        <a:t>B taklif</a:t>
                      </a:r>
                    </a:p>
                  </a:txBody>
                  <a:tcPr marL="91440" marR="91440" marT="45720" marB="45720">
                    <a:solidFill>
                      <a:srgbClr val="123027"/>
                    </a:solidFill>
                  </a:tcPr>
                </a:tc>
              </a:tr>
              <a:tr h="616744">
                <a:tc>
                  <a:txBody>
                    <a:bodyPr/>
                    <a:lstStyle/>
                    <a:p>
                      <a:r>
                        <a:rPr sz="2025" b="0">
                          <a:solidFill>
                            <a:srgbClr val="F3F7F4"/>
                          </a:solidFill>
                          <a:latin typeface="Nimbus Sans"/>
                          <a:ea typeface="Nimbus Sans"/>
                          <a:cs typeface="Nimbus Sans"/>
                        </a:rPr>
                        <a:t>Mahsulot</a:t>
                      </a:r>
                    </a:p>
                  </a:txBody>
                  <a:tcPr marL="91440" marR="91440" marT="45720" marB="45720">
                    <a:solidFill>
                      <a:srgbClr val="080E11"/>
                    </a:solidFill>
                  </a:tcPr>
                </a:tc>
                <a:tc>
                  <a:txBody>
                    <a:bodyPr/>
                    <a:lstStyle/>
                    <a:p>
                      <a:r>
                        <a:rPr sz="2025" b="0">
                          <a:solidFill>
                            <a:srgbClr val="F3F7F4"/>
                          </a:solidFill>
                          <a:latin typeface="Nimbus Sans"/>
                          <a:ea typeface="Nimbus Sans"/>
                          <a:cs typeface="Nimbus Sans"/>
                        </a:rPr>
                        <a:t>6 200 000</a:t>
                      </a:r>
                    </a:p>
                  </a:txBody>
                  <a:tcPr marL="91440" marR="91440" marT="45720" marB="45720">
                    <a:solidFill>
                      <a:srgbClr val="080E11"/>
                    </a:solidFill>
                  </a:tcPr>
                </a:tc>
                <a:tc>
                  <a:txBody>
                    <a:bodyPr/>
                    <a:lstStyle/>
                    <a:p>
                      <a:r>
                        <a:rPr sz="2025" b="0">
                          <a:solidFill>
                            <a:srgbClr val="F3F7F4"/>
                          </a:solidFill>
                          <a:latin typeface="Nimbus Sans"/>
                          <a:ea typeface="Nimbus Sans"/>
                          <a:cs typeface="Nimbus Sans"/>
                        </a:rPr>
                        <a:t>5 700 000</a:t>
                      </a:r>
                    </a:p>
                  </a:txBody>
                  <a:tcPr marL="91440" marR="91440" marT="45720" marB="45720">
                    <a:solidFill>
                      <a:srgbClr val="080E11"/>
                    </a:solidFill>
                  </a:tcPr>
                </a:tc>
              </a:tr>
              <a:tr h="616744">
                <a:tc>
                  <a:txBody>
                    <a:bodyPr/>
                    <a:lstStyle/>
                    <a:p>
                      <a:r>
                        <a:rPr sz="2025" b="0">
                          <a:solidFill>
                            <a:srgbClr val="F3F7F4"/>
                          </a:solidFill>
                          <a:latin typeface="Nimbus Sans"/>
                          <a:ea typeface="Nimbus Sans"/>
                          <a:cs typeface="Nimbus Sans"/>
                        </a:rPr>
                        <a:t>Yetkazish</a:t>
                      </a:r>
                    </a:p>
                  </a:txBody>
                  <a:tcPr marL="91440" marR="91440" marT="45720" marB="45720">
                    <a:solidFill>
                      <a:srgbClr val="080E11"/>
                    </a:solidFill>
                  </a:tcPr>
                </a:tc>
                <a:tc>
                  <a:txBody>
                    <a:bodyPr/>
                    <a:lstStyle/>
                    <a:p>
                      <a:r>
                        <a:rPr sz="2025" b="0">
                          <a:solidFill>
                            <a:srgbClr val="F3F7F4"/>
                          </a:solidFill>
                          <a:latin typeface="Nimbus Sans"/>
                          <a:ea typeface="Nimbus Sans"/>
                          <a:cs typeface="Nimbus Sans"/>
                        </a:rPr>
                        <a:t>300 000</a:t>
                      </a:r>
                    </a:p>
                  </a:txBody>
                  <a:tcPr marL="91440" marR="91440" marT="45720" marB="45720">
                    <a:solidFill>
                      <a:srgbClr val="080E11"/>
                    </a:solidFill>
                  </a:tcPr>
                </a:tc>
                <a:tc>
                  <a:txBody>
                    <a:bodyPr/>
                    <a:lstStyle/>
                    <a:p>
                      <a:r>
                        <a:rPr sz="2025" b="0">
                          <a:solidFill>
                            <a:srgbClr val="F3F7F4"/>
                          </a:solidFill>
                          <a:latin typeface="Nimbus Sans"/>
                          <a:ea typeface="Nimbus Sans"/>
                          <a:cs typeface="Nimbus Sans"/>
                        </a:rPr>
                        <a:t>450 000</a:t>
                      </a:r>
                    </a:p>
                  </a:txBody>
                  <a:tcPr marL="91440" marR="91440" marT="45720" marB="45720">
                    <a:solidFill>
                      <a:srgbClr val="080E11"/>
                    </a:solidFill>
                  </a:tcPr>
                </a:tc>
              </a:tr>
              <a:tr h="616744">
                <a:tc>
                  <a:txBody>
                    <a:bodyPr/>
                    <a:lstStyle/>
                    <a:p>
                      <a:r>
                        <a:rPr sz="2025" b="1">
                          <a:solidFill>
                            <a:srgbClr val="71F3B5"/>
                          </a:solidFill>
                          <a:latin typeface="Nimbus Sans"/>
                          <a:ea typeface="Nimbus Sans"/>
                          <a:cs typeface="Nimbus Sans"/>
                        </a:rPr>
                        <a:t>Jami, so‘m</a:t>
                      </a:r>
                    </a:p>
                  </a:txBody>
                  <a:tcPr marL="91440" marR="91440" marT="45720" marB="45720">
                    <a:solidFill>
                      <a:srgbClr val="080E11"/>
                    </a:solidFill>
                  </a:tcPr>
                </a:tc>
                <a:tc>
                  <a:txBody>
                    <a:bodyPr/>
                    <a:lstStyle/>
                    <a:p>
                      <a:r>
                        <a:rPr sz="2025" b="1">
                          <a:solidFill>
                            <a:srgbClr val="71F3B5"/>
                          </a:solidFill>
                          <a:latin typeface="Nimbus Sans"/>
                          <a:ea typeface="Nimbus Sans"/>
                          <a:cs typeface="Nimbus Sans"/>
                        </a:rPr>
                        <a:t>6 500 000</a:t>
                      </a:r>
                    </a:p>
                  </a:txBody>
                  <a:tcPr marL="91440" marR="91440" marT="45720" marB="45720">
                    <a:solidFill>
                      <a:srgbClr val="080E11"/>
                    </a:solidFill>
                  </a:tcPr>
                </a:tc>
                <a:tc>
                  <a:txBody>
                    <a:bodyPr/>
                    <a:lstStyle/>
                    <a:p>
                      <a:r>
                        <a:rPr sz="2025" b="1">
                          <a:solidFill>
                            <a:srgbClr val="71F3B5"/>
                          </a:solidFill>
                          <a:latin typeface="Nimbus Sans"/>
                          <a:ea typeface="Nimbus Sans"/>
                          <a:cs typeface="Nimbus Sans"/>
                        </a:rPr>
                        <a:t>6 150 000</a:t>
                      </a:r>
                    </a:p>
                  </a:txBody>
                  <a:tcPr marL="91440" marR="91440" marT="45720" marB="45720">
                    <a:solidFill>
                      <a:srgbClr val="080E11"/>
                    </a:solidFill>
                  </a:tcPr>
                </a:tc>
              </a:tr>
            </a:tbl>
          </a:graphicData>
        </a:graphic>
      </p:graphicFrame>
      <p:sp>
        <p:nvSpPr>
          <p:cNvPr id="6" name="">
            <a:extLst xmlns:a="http://schemas.openxmlformats.org/drawingml/2006/main">
              <a:ext uri="{FF2B5EF4-FFF2-40B4-BE49-F238E27FC236}">
                <a16:creationId xmlns:a16="http://schemas.microsoft.com/office/drawing/2014/main" id="{9B0FF559-A73A-4C31-A3DE-0AAE649D0505}"/>
              </a:ext>
            </a:extLst>
          </p:cNvPr>
          <p:cNvSpPr>
            <a:spLocks xmlns:a="http://schemas.openxmlformats.org/drawingml/2006/main" noGrp="1"/>
          </p:cNvSpPr>
          <p:nvPr/>
        </p:nvSpPr>
        <p:spPr>
          <a:xfrm xmlns:a="http://schemas.openxmlformats.org/drawingml/2006/main">
            <a:off x="8305800" y="2819400"/>
            <a:ext cx="3333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7875" b="1">
                <a:solidFill>
                  <a:srgbClr val="71F3B5"/>
                </a:solidFill>
                <a:latin typeface="Nimbus Sans"/>
                <a:ea typeface="Nimbus Sans"/>
                <a:cs typeface="Nimbus Sans"/>
              </a:defRPr>
            </a:pPr>
            <a:r>
              <a:rPr sz="7875" b="1">
                <a:solidFill>
                  <a:srgbClr val="71F3B5"/>
                </a:solidFill>
                <a:latin typeface="Nimbus Sans"/>
                <a:ea typeface="Nimbus Sans"/>
                <a:cs typeface="Nimbus Sans"/>
              </a:rPr>
              <a:t>350</a:t>
            </a:r>
          </a:p>
        </p:txBody>
      </p:sp>
      <p:sp>
        <p:nvSpPr>
          <p:cNvPr id="7" name="">
            <a:extLst xmlns:a="http://schemas.openxmlformats.org/drawingml/2006/main">
              <a:ext uri="{FF2B5EF4-FFF2-40B4-BE49-F238E27FC236}">
                <a16:creationId xmlns:a16="http://schemas.microsoft.com/office/drawing/2014/main" id="{E45E846F-97C6-4CF5-9D80-21B5E018AC56}"/>
              </a:ext>
            </a:extLst>
          </p:cNvPr>
          <p:cNvSpPr>
            <a:spLocks xmlns:a="http://schemas.openxmlformats.org/drawingml/2006/main" noGrp="1"/>
          </p:cNvSpPr>
          <p:nvPr/>
        </p:nvSpPr>
        <p:spPr>
          <a:xfrm xmlns:a="http://schemas.openxmlformats.org/drawingml/2006/main">
            <a:off x="8343900" y="4200525"/>
            <a:ext cx="327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75" b="0">
                <a:solidFill>
                  <a:srgbClr val="F3F7F4"/>
                </a:solidFill>
                <a:latin typeface="Nimbus Sans"/>
                <a:ea typeface="Nimbus Sans"/>
                <a:cs typeface="Nimbus Sans"/>
              </a:defRPr>
            </a:pPr>
            <a:r>
              <a:rPr sz="3075" b="0">
                <a:solidFill>
                  <a:srgbClr val="F3F7F4"/>
                </a:solidFill>
                <a:latin typeface="Nimbus Sans"/>
                <a:ea typeface="Nimbus Sans"/>
                <a:cs typeface="Nimbus Sans"/>
              </a:rPr>
              <a:t>ming so‘m</a:t>
            </a:r>
          </a:p>
        </p:txBody>
      </p:sp>
      <p:sp>
        <p:nvSpPr>
          <p:cNvPr id="8" name="">
            <a:extLst xmlns:a="http://schemas.openxmlformats.org/drawingml/2006/main">
              <a:ext uri="{FF2B5EF4-FFF2-40B4-BE49-F238E27FC236}">
                <a16:creationId xmlns:a16="http://schemas.microsoft.com/office/drawing/2014/main" id="{62389B4B-6279-442C-93CE-BF08188CFAF8}"/>
              </a:ext>
            </a:extLst>
          </p:cNvPr>
          <p:cNvSpPr>
            <a:spLocks xmlns:a="http://schemas.openxmlformats.org/drawingml/2006/main" noGrp="1"/>
          </p:cNvSpPr>
          <p:nvPr/>
        </p:nvSpPr>
        <p:spPr>
          <a:xfrm xmlns:a="http://schemas.openxmlformats.org/drawingml/2006/main">
            <a:off x="8343900" y="4895850"/>
            <a:ext cx="327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A8BBB4"/>
                </a:solidFill>
                <a:latin typeface="Nimbus Sans"/>
                <a:ea typeface="Nimbus Sans"/>
                <a:cs typeface="Nimbus Sans"/>
              </a:defRPr>
            </a:pPr>
            <a:r>
              <a:rPr sz="2100" b="0">
                <a:solidFill>
                  <a:srgbClr val="A8BBB4"/>
                </a:solidFill>
                <a:latin typeface="Nimbus Sans"/>
                <a:ea typeface="Nimbus Sans"/>
                <a:cs typeface="Nimbus Sans"/>
              </a:rPr>
              <a:t>arzonroq xarid</a:t>
            </a:r>
          </a:p>
        </p:txBody>
      </p:sp>
      <p:sp>
        <p:nvSpPr>
          <p:cNvPr id="9" name="">
            <a:extLst xmlns:a="http://schemas.openxmlformats.org/drawingml/2006/main">
              <a:ext uri="{FF2B5EF4-FFF2-40B4-BE49-F238E27FC236}">
                <a16:creationId xmlns:a16="http://schemas.microsoft.com/office/drawing/2014/main" id="{B6CBC499-0695-4760-9192-965E3D29FBDE}"/>
              </a:ext>
            </a:extLst>
          </p:cNvPr>
          <p:cNvSpPr>
            <a:spLocks xmlns:a="http://schemas.openxmlformats.org/drawingml/2006/main" noGrp="1"/>
          </p:cNvSpPr>
          <p:nvPr/>
        </p:nvSpPr>
        <p:spPr>
          <a:xfrm xmlns:a="http://schemas.openxmlformats.org/drawingml/2006/main">
            <a:off x="571500" y="5715000"/>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7F4"/>
                </a:solidFill>
                <a:latin typeface="Nimbus Sans"/>
                <a:ea typeface="Nimbus Sans"/>
                <a:cs typeface="Nimbus Sans"/>
              </a:defRPr>
            </a:pPr>
            <a:r>
              <a:rPr sz="2175" b="0">
                <a:solidFill>
                  <a:srgbClr val="F3F7F4"/>
                </a:solidFill>
                <a:latin typeface="Nimbus Sans"/>
                <a:ea typeface="Nimbus Sans"/>
                <a:cs typeface="Nimbus Sans"/>
              </a:rPr>
              <a:t>Mahsulot va yetkazish xarajatini birga ko‘rish tanlovni osonlashtiradi.</a:t>
            </a:r>
          </a:p>
        </p:txBody>
      </p:sp>
      <p:sp>
        <p:nvSpPr>
          <p:cNvPr id="10" name="">
            <a:extLst xmlns:a="http://schemas.openxmlformats.org/drawingml/2006/main">
              <a:ext uri="{FF2B5EF4-FFF2-40B4-BE49-F238E27FC236}">
                <a16:creationId xmlns:a16="http://schemas.microsoft.com/office/drawing/2014/main" id="{852922AE-97E2-4D5C-AF6C-A4AB19A48D30}"/>
              </a:ext>
            </a:extLst>
          </p:cNvPr>
          <p:cNvSpPr>
            <a:spLocks xmlns:a="http://schemas.openxmlformats.org/drawingml/2006/main" noGrp="1"/>
          </p:cNvSpPr>
          <p:nvPr/>
        </p:nvSpPr>
        <p:spPr>
          <a:xfrm xmlns:a="http://schemas.openxmlformats.org/drawingml/2006/main">
            <a:off x="571500" y="6400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Bir xil nav, sifat va miqdor. Boshqa xarajatlar teng. Bu real bozor kotirovkasi emas.</a:t>
            </a:r>
          </a:p>
        </p:txBody>
      </p:sp>
    </p:spTree>
    <p:extLst>
      <p:ext uri="{BB962C8B-B14F-4D97-AF65-F5344CB8AC3E}">
        <p14:creationId xmlns:p14="http://schemas.microsoft.com/office/powerpoint/2010/main" val="1798595213"/>
      </p:ext>
    </p:extLst>
  </p:cSld>
</p:sld>
</file>

<file path=ppt/slides/slide7.xml><?xml version="1.0" encoding="utf-8"?>
<p:sld xmlns:p="http://schemas.openxmlformats.org/presentationml/2006/main">
  <p:cSld>
    <p:bg>
      <p:bgPr>
        <a:solidFill xmlns:a="http://schemas.openxmlformats.org/drawingml/2006/main">
          <a:srgbClr val="080E1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771AA1-4D1D-41F5-B44B-8AC06D53029B}"/>
              </a:ext>
            </a:extLst>
          </p:cNvPr>
          <p:cNvSpPr>
            <a:spLocks xmlns:a="http://schemas.openxmlformats.org/drawingml/2006/main" noGrp="1"/>
          </p:cNvSpPr>
          <p:nvPr/>
        </p:nvSpPr>
        <p:spPr>
          <a:xfrm xmlns:a="http://schemas.openxmlformats.org/drawingml/2006/main">
            <a:off x="571500" y="3333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A8BBB4"/>
                </a:solidFill>
                <a:latin typeface="Nimbus Sans"/>
                <a:ea typeface="Nimbus Sans"/>
                <a:cs typeface="Nimbus Sans"/>
              </a:defRPr>
            </a:pPr>
            <a:r>
              <a:rPr sz="1500" b="1">
                <a:solidFill>
                  <a:srgbClr val="A8BBB4"/>
                </a:solidFill>
                <a:latin typeface="Nimbus Sans"/>
                <a:ea typeface="Nimbus Sans"/>
                <a:cs typeface="Nimbus Sans"/>
              </a:rPr>
              <a:t>BozorPulsAi</a:t>
            </a:r>
          </a:p>
        </p:txBody>
      </p:sp>
      <p:sp>
        <p:nvSpPr>
          <p:cNvPr id="2" name="">
            <a:extLst xmlns:a="http://schemas.openxmlformats.org/drawingml/2006/main">
              <a:ext uri="{FF2B5EF4-FFF2-40B4-BE49-F238E27FC236}">
                <a16:creationId xmlns:a16="http://schemas.microsoft.com/office/drawing/2014/main" id="{B2391119-A134-41D6-855E-45F6B328C915}"/>
              </a:ext>
            </a:extLst>
          </p:cNvPr>
          <p:cNvSpPr>
            <a:spLocks xmlns:a="http://schemas.openxmlformats.org/drawingml/2006/main" noGrp="1"/>
          </p:cNvSpPr>
          <p:nvPr/>
        </p:nvSpPr>
        <p:spPr>
          <a:xfrm xmlns:a="http://schemas.openxmlformats.org/drawingml/2006/main">
            <a:off x="11049000"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07</a:t>
            </a:r>
          </a:p>
        </p:txBody>
      </p:sp>
      <p:sp>
        <p:nvSpPr>
          <p:cNvPr id="3" name="">
            <a:extLst xmlns:a="http://schemas.openxmlformats.org/drawingml/2006/main">
              <a:ext uri="{FF2B5EF4-FFF2-40B4-BE49-F238E27FC236}">
                <a16:creationId xmlns:a16="http://schemas.microsoft.com/office/drawing/2014/main" id="{23D6C26E-88F0-4733-886A-E985208D5386}"/>
              </a:ext>
            </a:extLst>
          </p:cNvPr>
          <p:cNvSpPr>
            <a:spLocks xmlns:a="http://schemas.openxmlformats.org/drawingml/2006/main" noGrp="1"/>
          </p:cNvSpPr>
          <p:nvPr/>
        </p:nvSpPr>
        <p:spPr>
          <a:xfrm xmlns:a="http://schemas.openxmlformats.org/drawingml/2006/main">
            <a:off x="571500" y="10477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975" b="1">
                <a:solidFill>
                  <a:srgbClr val="F3F7F4"/>
                </a:solidFill>
                <a:latin typeface="Nimbus Sans"/>
                <a:ea typeface="Nimbus Sans"/>
                <a:cs typeface="Nimbus Sans"/>
              </a:defRPr>
            </a:pPr>
            <a:r>
              <a:rPr sz="3975" b="1">
                <a:solidFill>
                  <a:srgbClr val="F3F7F4"/>
                </a:solidFill>
                <a:latin typeface="Nimbus Sans"/>
                <a:ea typeface="Nimbus Sans"/>
                <a:cs typeface="Nimbus Sans"/>
              </a:rPr>
              <a:t>5 ta daromad manbai</a:t>
            </a:r>
          </a:p>
        </p:txBody>
      </p:sp>
      <p:sp>
        <p:nvSpPr>
          <p:cNvPr id="4" name="">
            <a:extLst xmlns:a="http://schemas.openxmlformats.org/drawingml/2006/main">
              <a:ext uri="{FF2B5EF4-FFF2-40B4-BE49-F238E27FC236}">
                <a16:creationId xmlns:a16="http://schemas.microsoft.com/office/drawing/2014/main" id="{C6C10192-7F8E-4E3C-B691-8E68C83CFAC3}"/>
              </a:ext>
            </a:extLst>
          </p:cNvPr>
          <p:cNvSpPr>
            <a:spLocks xmlns:a="http://schemas.openxmlformats.org/drawingml/2006/main" noGrp="1"/>
          </p:cNvSpPr>
          <p:nvPr/>
        </p:nvSpPr>
        <p:spPr>
          <a:xfrm xmlns:a="http://schemas.openxmlformats.org/drawingml/2006/main">
            <a:off x="571500" y="18859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A8BBB4"/>
                </a:solidFill>
                <a:latin typeface="Nimbus Sans"/>
                <a:ea typeface="Nimbus Sans"/>
                <a:cs typeface="Nimbus Sans"/>
              </a:defRPr>
            </a:pPr>
            <a:r>
              <a:rPr sz="1875" b="0">
                <a:solidFill>
                  <a:srgbClr val="A8BBB4"/>
                </a:solidFill>
                <a:latin typeface="Nimbus Sans"/>
                <a:ea typeface="Nimbus Sans"/>
                <a:cs typeface="Nimbus Sans"/>
              </a:rPr>
              <a:t>Avval foyda va tejam beramiz. To‘lov xizmat qiymatiga bog‘lanadi.</a:t>
            </a:r>
          </a:p>
        </p:txBody>
      </p:sp>
      <p:graphicFrame>
        <p:nvGraphicFramePr>
          <p:cNvPr id="12" name=""/>
          <p:cNvGraphicFramePr/>
          <p:nvPr/>
        </p:nvGraphicFramePr>
        <p:xfrm>
          <a:off xmlns:a="http://schemas.openxmlformats.org/drawingml/2006/main" x="571500" y="2457450"/>
          <a:ext xmlns:a="http://schemas.openxmlformats.org/drawingml/2006/main" cx="11049000" cy="3009900"/>
        </p:xfrm>
        <a:graphic xmlns:a="http://schemas.openxmlformats.org/drawingml/2006/main">
          <a:graphicData uri="http://schemas.openxmlformats.org/drawingml/2006/table">
            <a:tbl>
              <a:tblPr/>
              <a:tblGrid>
                <a:gridCol w="2905125"/>
                <a:gridCol w="4714875"/>
                <a:gridCol w="3429000"/>
              </a:tblGrid>
              <a:tr h="501650">
                <a:tc>
                  <a:txBody>
                    <a:bodyPr/>
                    <a:lstStyle/>
                    <a:p>
                      <a:r>
                        <a:rPr sz="1650" b="1">
                          <a:solidFill>
                            <a:srgbClr val="71F3B5"/>
                          </a:solidFill>
                          <a:latin typeface="Nimbus Sans"/>
                          <a:ea typeface="Nimbus Sans"/>
                          <a:cs typeface="Nimbus Sans"/>
                        </a:rPr>
                        <a:t>To‘lovchi</a:t>
                      </a:r>
                    </a:p>
                  </a:txBody>
                  <a:tcPr marL="91440" marR="91440" marT="45720" marB="45720">
                    <a:solidFill>
                      <a:srgbClr val="123027"/>
                    </a:solidFill>
                  </a:tcPr>
                </a:tc>
                <a:tc>
                  <a:txBody>
                    <a:bodyPr/>
                    <a:lstStyle/>
                    <a:p>
                      <a:r>
                        <a:rPr sz="1650" b="1">
                          <a:solidFill>
                            <a:srgbClr val="71F3B5"/>
                          </a:solidFill>
                          <a:latin typeface="Nimbus Sans"/>
                          <a:ea typeface="Nimbus Sans"/>
                          <a:cs typeface="Nimbus Sans"/>
                        </a:rPr>
                        <a:t>Xizmat</a:t>
                      </a:r>
                    </a:p>
                  </a:txBody>
                  <a:tcPr marL="91440" marR="91440" marT="45720" marB="45720">
                    <a:solidFill>
                      <a:srgbClr val="123027"/>
                    </a:solidFill>
                  </a:tcPr>
                </a:tc>
                <a:tc>
                  <a:txBody>
                    <a:bodyPr/>
                    <a:lstStyle/>
                    <a:p>
                      <a:r>
                        <a:rPr sz="1650" b="1">
                          <a:solidFill>
                            <a:srgbClr val="71F3B5"/>
                          </a:solidFill>
                          <a:latin typeface="Nimbus Sans"/>
                          <a:ea typeface="Nimbus Sans"/>
                          <a:cs typeface="Nimbus Sans"/>
                        </a:rPr>
                        <a:t>Manbadagi tarif taklifi</a:t>
                      </a:r>
                    </a:p>
                  </a:txBody>
                  <a:tcPr marL="91440" marR="91440" marT="45720" marB="45720">
                    <a:solidFill>
                      <a:srgbClr val="123027"/>
                    </a:solidFill>
                  </a:tcPr>
                </a:tc>
              </a:tr>
              <a:tr h="501650">
                <a:tc>
                  <a:txBody>
                    <a:bodyPr/>
                    <a:lstStyle/>
                    <a:p>
                      <a:r>
                        <a:rPr sz="1875" b="0">
                          <a:solidFill>
                            <a:srgbClr val="F3F7F4"/>
                          </a:solidFill>
                          <a:latin typeface="Nimbus Sans"/>
                          <a:ea typeface="Nimbus Sans"/>
                          <a:cs typeface="Nimbus Sans"/>
                        </a:rPr>
                        <a:t>Tadbirkor</a:t>
                      </a:r>
                    </a:p>
                  </a:txBody>
                  <a:tcPr marL="91440" marR="91440" marT="45720" marB="45720">
                    <a:solidFill>
                      <a:srgbClr val="080E11"/>
                    </a:solidFill>
                  </a:tcPr>
                </a:tc>
                <a:tc>
                  <a:txBody>
                    <a:bodyPr/>
                    <a:lstStyle/>
                    <a:p>
                      <a:r>
                        <a:rPr sz="1875" b="0">
                          <a:solidFill>
                            <a:srgbClr val="F3F7F4"/>
                          </a:solidFill>
                          <a:latin typeface="Nimbus Sans"/>
                          <a:ea typeface="Nimbus Sans"/>
                          <a:cs typeface="Nimbus Sans"/>
                        </a:rPr>
                        <a:t>Pro: biznes reja va bozor tahlili</a:t>
                      </a:r>
                    </a:p>
                  </a:txBody>
                  <a:tcPr marL="91440" marR="91440" marT="45720" marB="45720">
                    <a:solidFill>
                      <a:srgbClr val="080E11"/>
                    </a:solidFill>
                  </a:tcPr>
                </a:tc>
                <a:tc>
                  <a:txBody>
                    <a:bodyPr/>
                    <a:lstStyle/>
                    <a:p>
                      <a:r>
                        <a:rPr sz="1875" b="0">
                          <a:solidFill>
                            <a:srgbClr val="F3F7F4"/>
                          </a:solidFill>
                          <a:latin typeface="Nimbus Sans"/>
                          <a:ea typeface="Nimbus Sans"/>
                          <a:cs typeface="Nimbus Sans"/>
                        </a:rPr>
                        <a:t>100–150 ming so‘m / oy</a:t>
                      </a:r>
                    </a:p>
                  </a:txBody>
                  <a:tcPr marL="91440" marR="91440" marT="45720" marB="45720">
                    <a:solidFill>
                      <a:srgbClr val="080E11"/>
                    </a:solidFill>
                  </a:tcPr>
                </a:tc>
              </a:tr>
              <a:tr h="501650">
                <a:tc>
                  <a:txBody>
                    <a:bodyPr/>
                    <a:lstStyle/>
                    <a:p>
                      <a:r>
                        <a:rPr sz="1875" b="0">
                          <a:solidFill>
                            <a:srgbClr val="F3F7F4"/>
                          </a:solidFill>
                          <a:latin typeface="Nimbus Sans"/>
                          <a:ea typeface="Nimbus Sans"/>
                          <a:cs typeface="Nimbus Sans"/>
                        </a:rPr>
                        <a:t>Yetkazib beruvchi</a:t>
                      </a:r>
                    </a:p>
                  </a:txBody>
                  <a:tcPr marL="91440" marR="91440" marT="45720" marB="45720">
                    <a:solidFill>
                      <a:srgbClr val="080E11"/>
                    </a:solidFill>
                  </a:tcPr>
                </a:tc>
                <a:tc>
                  <a:txBody>
                    <a:bodyPr/>
                    <a:lstStyle/>
                    <a:p>
                      <a:r>
                        <a:rPr sz="1875" b="0">
                          <a:solidFill>
                            <a:srgbClr val="F3F7F4"/>
                          </a:solidFill>
                          <a:latin typeface="Nimbus Sans"/>
                          <a:ea typeface="Nimbus Sans"/>
                          <a:cs typeface="Nimbus Sans"/>
                        </a:rPr>
                        <a:t>AI-vitrina: premium reklama</a:t>
                      </a:r>
                    </a:p>
                  </a:txBody>
                  <a:tcPr marL="91440" marR="91440" marT="45720" marB="45720">
                    <a:solidFill>
                      <a:srgbClr val="080E11"/>
                    </a:solidFill>
                  </a:tcPr>
                </a:tc>
                <a:tc>
                  <a:txBody>
                    <a:bodyPr/>
                    <a:lstStyle/>
                    <a:p>
                      <a:r>
                        <a:rPr sz="1875" b="0">
                          <a:solidFill>
                            <a:srgbClr val="F3F7F4"/>
                          </a:solidFill>
                          <a:latin typeface="Nimbus Sans"/>
                          <a:ea typeface="Nimbus Sans"/>
                          <a:cs typeface="Nimbus Sans"/>
                        </a:rPr>
                        <a:t>Har klik yoki oylik paket</a:t>
                      </a:r>
                    </a:p>
                  </a:txBody>
                  <a:tcPr marL="91440" marR="91440" marT="45720" marB="45720">
                    <a:solidFill>
                      <a:srgbClr val="080E11"/>
                    </a:solidFill>
                  </a:tcPr>
                </a:tc>
              </a:tr>
              <a:tr h="501650">
                <a:tc>
                  <a:txBody>
                    <a:bodyPr/>
                    <a:lstStyle/>
                    <a:p>
                      <a:r>
                        <a:rPr sz="1875" b="0">
                          <a:solidFill>
                            <a:srgbClr val="F3F7F4"/>
                          </a:solidFill>
                          <a:latin typeface="Nimbus Sans"/>
                          <a:ea typeface="Nimbus Sans"/>
                          <a:cs typeface="Nimbus Sans"/>
                        </a:rPr>
                        <a:t>Xaridor / sotuvchi</a:t>
                      </a:r>
                    </a:p>
                  </a:txBody>
                  <a:tcPr marL="91440" marR="91440" marT="45720" marB="45720">
                    <a:solidFill>
                      <a:srgbClr val="080E11"/>
                    </a:solidFill>
                  </a:tcPr>
                </a:tc>
                <a:tc>
                  <a:txBody>
                    <a:bodyPr/>
                    <a:lstStyle/>
                    <a:p>
                      <a:r>
                        <a:rPr sz="1875" b="0">
                          <a:solidFill>
                            <a:srgbClr val="F3F7F4"/>
                          </a:solidFill>
                          <a:latin typeface="Nimbus Sans"/>
                          <a:ea typeface="Nimbus Sans"/>
                          <a:cs typeface="Nimbus Sans"/>
                        </a:rPr>
                        <a:t>Himoyalangan to‘lov (escrow)</a:t>
                      </a:r>
                    </a:p>
                  </a:txBody>
                  <a:tcPr marL="91440" marR="91440" marT="45720" marB="45720">
                    <a:solidFill>
                      <a:srgbClr val="080E11"/>
                    </a:solidFill>
                  </a:tcPr>
                </a:tc>
                <a:tc>
                  <a:txBody>
                    <a:bodyPr/>
                    <a:lstStyle/>
                    <a:p>
                      <a:r>
                        <a:rPr sz="1875" b="0">
                          <a:solidFill>
                            <a:srgbClr val="F3F7F4"/>
                          </a:solidFill>
                          <a:latin typeface="Nimbus Sans"/>
                          <a:ea typeface="Nimbus Sans"/>
                          <a:cs typeface="Nimbus Sans"/>
                        </a:rPr>
                        <a:t>0,5–1% komissiya</a:t>
                      </a:r>
                    </a:p>
                  </a:txBody>
                  <a:tcPr marL="91440" marR="91440" marT="45720" marB="45720">
                    <a:solidFill>
                      <a:srgbClr val="080E11"/>
                    </a:solidFill>
                  </a:tcPr>
                </a:tc>
              </a:tr>
              <a:tr h="501650">
                <a:tc>
                  <a:txBody>
                    <a:bodyPr/>
                    <a:lstStyle/>
                    <a:p>
                      <a:r>
                        <a:rPr sz="1875" b="0">
                          <a:solidFill>
                            <a:srgbClr val="F3F7F4"/>
                          </a:solidFill>
                          <a:latin typeface="Nimbus Sans"/>
                          <a:ea typeface="Nimbus Sans"/>
                          <a:cs typeface="Nimbus Sans"/>
                        </a:rPr>
                        <a:t>Logistika hamkori</a:t>
                      </a:r>
                    </a:p>
                  </a:txBody>
                  <a:tcPr marL="91440" marR="91440" marT="45720" marB="45720">
                    <a:solidFill>
                      <a:srgbClr val="080E11"/>
                    </a:solidFill>
                  </a:tcPr>
                </a:tc>
                <a:tc>
                  <a:txBody>
                    <a:bodyPr/>
                    <a:lstStyle/>
                    <a:p>
                      <a:r>
                        <a:rPr sz="1875" b="0">
                          <a:solidFill>
                            <a:srgbClr val="F3F7F4"/>
                          </a:solidFill>
                          <a:latin typeface="Nimbus Sans"/>
                          <a:ea typeface="Nimbus Sans"/>
                          <a:cs typeface="Nimbus Sans"/>
                        </a:rPr>
                        <a:t>Bajarilgan tashish buyurtmasi</a:t>
                      </a:r>
                    </a:p>
                  </a:txBody>
                  <a:tcPr marL="91440" marR="91440" marT="45720" marB="45720">
                    <a:solidFill>
                      <a:srgbClr val="080E11"/>
                    </a:solidFill>
                  </a:tcPr>
                </a:tc>
                <a:tc>
                  <a:txBody>
                    <a:bodyPr/>
                    <a:lstStyle/>
                    <a:p>
                      <a:r>
                        <a:rPr sz="1875" b="0">
                          <a:solidFill>
                            <a:srgbClr val="F3F7F4"/>
                          </a:solidFill>
                          <a:latin typeface="Nimbus Sans"/>
                          <a:ea typeface="Nimbus Sans"/>
                          <a:cs typeface="Nimbus Sans"/>
                        </a:rPr>
                        <a:t>Yo‘lkiradan 5–10%</a:t>
                      </a:r>
                    </a:p>
                  </a:txBody>
                  <a:tcPr marL="91440" marR="91440" marT="45720" marB="45720">
                    <a:solidFill>
                      <a:srgbClr val="080E11"/>
                    </a:solidFill>
                  </a:tcPr>
                </a:tc>
              </a:tr>
              <a:tr h="501650">
                <a:tc>
                  <a:txBody>
                    <a:bodyPr/>
                    <a:lstStyle/>
                    <a:p>
                      <a:r>
                        <a:rPr sz="1875" b="0">
                          <a:solidFill>
                            <a:srgbClr val="F3F7F4"/>
                          </a:solidFill>
                          <a:latin typeface="Nimbus Sans"/>
                          <a:ea typeface="Nimbus Sans"/>
                          <a:cs typeface="Nimbus Sans"/>
                        </a:rPr>
                        <a:t>Bank hamkori</a:t>
                      </a:r>
                    </a:p>
                  </a:txBody>
                  <a:tcPr marL="91440" marR="91440" marT="45720" marB="45720">
                    <a:solidFill>
                      <a:srgbClr val="080E11"/>
                    </a:solidFill>
                  </a:tcPr>
                </a:tc>
                <a:tc>
                  <a:txBody>
                    <a:bodyPr/>
                    <a:lstStyle/>
                    <a:p>
                      <a:r>
                        <a:rPr sz="1875" b="0">
                          <a:solidFill>
                            <a:srgbClr val="F3F7F4"/>
                          </a:solidFill>
                          <a:latin typeface="Nimbus Sans"/>
                          <a:ea typeface="Nimbus Sans"/>
                          <a:cs typeface="Nimbus Sans"/>
                        </a:rPr>
                        <a:t>Rozilik bilan mijoz yo‘llash</a:t>
                      </a:r>
                    </a:p>
                  </a:txBody>
                  <a:tcPr marL="91440" marR="91440" marT="45720" marB="45720">
                    <a:solidFill>
                      <a:srgbClr val="080E11"/>
                    </a:solidFill>
                  </a:tcPr>
                </a:tc>
                <a:tc>
                  <a:txBody>
                    <a:bodyPr/>
                    <a:lstStyle/>
                    <a:p>
                      <a:r>
                        <a:rPr sz="1875" b="0">
                          <a:solidFill>
                            <a:srgbClr val="F3F7F4"/>
                          </a:solidFill>
                          <a:latin typeface="Nimbus Sans"/>
                          <a:ea typeface="Nimbus Sans"/>
                          <a:cs typeface="Nimbus Sans"/>
                        </a:rPr>
                        <a:t>Kreditdan 0,5–1,5%</a:t>
                      </a:r>
                    </a:p>
                  </a:txBody>
                  <a:tcPr marL="91440" marR="91440" marT="45720" marB="45720">
                    <a:solidFill>
                      <a:srgbClr val="080E11"/>
                    </a:solidFill>
                  </a:tcPr>
                </a:tc>
              </a:tr>
            </a:tbl>
          </a:graphicData>
        </a:graphic>
      </p:graphicFrame>
      <p:sp>
        <p:nvSpPr>
          <p:cNvPr id="6" name="">
            <a:extLst xmlns:a="http://schemas.openxmlformats.org/drawingml/2006/main">
              <a:ext uri="{FF2B5EF4-FFF2-40B4-BE49-F238E27FC236}">
                <a16:creationId xmlns:a16="http://schemas.microsoft.com/office/drawing/2014/main" id="{4EA768C4-B9D3-4620-948E-B27BF9BF23C7}"/>
              </a:ext>
            </a:extLst>
          </p:cNvPr>
          <p:cNvSpPr>
            <a:spLocks xmlns:a="http://schemas.openxmlformats.org/drawingml/2006/main" noGrp="1"/>
          </p:cNvSpPr>
          <p:nvPr/>
        </p:nvSpPr>
        <p:spPr>
          <a:xfrm xmlns:a="http://schemas.openxmlformats.org/drawingml/2006/main">
            <a:off x="571500" y="5743575"/>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71F3B5"/>
                </a:solidFill>
                <a:latin typeface="Nimbus Sans"/>
                <a:ea typeface="Nimbus Sans"/>
                <a:cs typeface="Nimbus Sans"/>
              </a:defRPr>
            </a:pPr>
            <a:r>
              <a:rPr sz="2325" b="1">
                <a:solidFill>
                  <a:srgbClr val="71F3B5"/>
                </a:solidFill>
                <a:latin typeface="Nimbus Sans"/>
                <a:ea typeface="Nimbus Sans"/>
                <a:cs typeface="Nimbus Sans"/>
              </a:rPr>
              <a:t>Asosiy imkoniyatlar bepul. Pullik xizmatlar ixtiyoriy.</a:t>
            </a:r>
          </a:p>
        </p:txBody>
      </p:sp>
      <p:sp>
        <p:nvSpPr>
          <p:cNvPr id="7" name="">
            <a:extLst xmlns:a="http://schemas.openxmlformats.org/drawingml/2006/main">
              <a:ext uri="{FF2B5EF4-FFF2-40B4-BE49-F238E27FC236}">
                <a16:creationId xmlns:a16="http://schemas.microsoft.com/office/drawing/2014/main" id="{FB2FDB7B-9C2A-4FE0-83D2-F8565F2C12C5}"/>
              </a:ext>
            </a:extLst>
          </p:cNvPr>
          <p:cNvSpPr>
            <a:spLocks xmlns:a="http://schemas.openxmlformats.org/drawingml/2006/main" noGrp="1"/>
          </p:cNvSpPr>
          <p:nvPr/>
        </p:nvSpPr>
        <p:spPr>
          <a:xfrm xmlns:a="http://schemas.openxmlformats.org/drawingml/2006/main">
            <a:off x="571500" y="63341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A8BBB4"/>
                </a:solidFill>
                <a:latin typeface="Nimbus Sans"/>
                <a:ea typeface="Nimbus Sans"/>
                <a:cs typeface="Nimbus Sans"/>
              </a:defRPr>
            </a:pPr>
            <a:r>
              <a:rPr sz="1425" b="0">
                <a:solidFill>
                  <a:srgbClr val="A8BBB4"/>
                </a:solidFill>
                <a:latin typeface="Nimbus Sans"/>
                <a:ea typeface="Nimbus Sans"/>
                <a:cs typeface="Nimbus Sans"/>
              </a:rPr>
              <a:t>Tariflar tasdiqlanmagan. Escrow, logistika va bank xizmatlari hamkorlikdan keyin ochiladi.</a:t>
            </a:r>
          </a:p>
        </p:txBody>
      </p:sp>
    </p:spTree>
    <p:extLst>
      <p:ext uri="{BB962C8B-B14F-4D97-AF65-F5344CB8AC3E}">
        <p14:creationId xmlns:p14="http://schemas.microsoft.com/office/powerpoint/2010/main" val="1747518926"/>
      </p:ext>
    </p:extLst>
  </p:cSld>
</p:sld>
</file>

<file path=ppt/slides/slide8.xml><?xml version="1.0" encoding="utf-8"?>
<p:sld xmlns:p="http://schemas.openxmlformats.org/presentationml/2006/main">
  <p:cSld>
    <p:bg>
      <p:bgPr>
        <a:solidFill xmlns:a="http://schemas.openxmlformats.org/drawingml/2006/main">
          <a:srgbClr val="080E1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3D1FA5-81EB-448E-BE52-BA77E5955D19}"/>
              </a:ext>
            </a:extLst>
          </p:cNvPr>
          <p:cNvSpPr>
            <a:spLocks xmlns:a="http://schemas.openxmlformats.org/drawingml/2006/main" noGrp="1"/>
          </p:cNvSpPr>
          <p:nvPr/>
        </p:nvSpPr>
        <p:spPr>
          <a:xfrm xmlns:a="http://schemas.openxmlformats.org/drawingml/2006/main">
            <a:off x="571500" y="3333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A8BBB4"/>
                </a:solidFill>
                <a:latin typeface="Nimbus Sans"/>
                <a:ea typeface="Nimbus Sans"/>
                <a:cs typeface="Nimbus Sans"/>
              </a:defRPr>
            </a:pPr>
            <a:r>
              <a:rPr sz="1500" b="1">
                <a:solidFill>
                  <a:srgbClr val="A8BBB4"/>
                </a:solidFill>
                <a:latin typeface="Nimbus Sans"/>
                <a:ea typeface="Nimbus Sans"/>
                <a:cs typeface="Nimbus Sans"/>
              </a:rPr>
              <a:t>BozorPulsAi</a:t>
            </a:r>
          </a:p>
        </p:txBody>
      </p:sp>
      <p:sp>
        <p:nvSpPr>
          <p:cNvPr id="2" name="">
            <a:extLst xmlns:a="http://schemas.openxmlformats.org/drawingml/2006/main">
              <a:ext uri="{FF2B5EF4-FFF2-40B4-BE49-F238E27FC236}">
                <a16:creationId xmlns:a16="http://schemas.microsoft.com/office/drawing/2014/main" id="{93FA2181-406F-4E7B-A503-D4E5CE09F140}"/>
              </a:ext>
            </a:extLst>
          </p:cNvPr>
          <p:cNvSpPr>
            <a:spLocks xmlns:a="http://schemas.openxmlformats.org/drawingml/2006/main" noGrp="1"/>
          </p:cNvSpPr>
          <p:nvPr/>
        </p:nvSpPr>
        <p:spPr>
          <a:xfrm xmlns:a="http://schemas.openxmlformats.org/drawingml/2006/main">
            <a:off x="11049000"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08</a:t>
            </a:r>
          </a:p>
        </p:txBody>
      </p:sp>
      <p:sp>
        <p:nvSpPr>
          <p:cNvPr id="3" name="">
            <a:extLst xmlns:a="http://schemas.openxmlformats.org/drawingml/2006/main">
              <a:ext uri="{FF2B5EF4-FFF2-40B4-BE49-F238E27FC236}">
                <a16:creationId xmlns:a16="http://schemas.microsoft.com/office/drawing/2014/main" id="{67A0C814-CF00-4927-B841-6B87AF9AB4A0}"/>
              </a:ext>
            </a:extLst>
          </p:cNvPr>
          <p:cNvSpPr>
            <a:spLocks xmlns:a="http://schemas.openxmlformats.org/drawingml/2006/main" noGrp="1"/>
          </p:cNvSpPr>
          <p:nvPr/>
        </p:nvSpPr>
        <p:spPr>
          <a:xfrm xmlns:a="http://schemas.openxmlformats.org/drawingml/2006/main">
            <a:off x="571500" y="1028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825" b="1">
                <a:solidFill>
                  <a:srgbClr val="F3F7F4"/>
                </a:solidFill>
                <a:latin typeface="Nimbus Sans"/>
                <a:ea typeface="Nimbus Sans"/>
                <a:cs typeface="Nimbus Sans"/>
              </a:defRPr>
            </a:pPr>
            <a:r>
              <a:rPr sz="3825" b="1">
                <a:solidFill>
                  <a:srgbClr val="F3F7F4"/>
                </a:solidFill>
                <a:latin typeface="Nimbus Sans"/>
                <a:ea typeface="Nimbus Sans"/>
                <a:cs typeface="Nimbus Sans"/>
              </a:rPr>
              <a:t>Kengaygandagi daromad ssenariysi</a:t>
            </a:r>
          </a:p>
        </p:txBody>
      </p:sp>
      <p:sp>
        <p:nvSpPr>
          <p:cNvPr id="4" name="">
            <a:extLst xmlns:a="http://schemas.openxmlformats.org/drawingml/2006/main">
              <a:ext uri="{FF2B5EF4-FFF2-40B4-BE49-F238E27FC236}">
                <a16:creationId xmlns:a16="http://schemas.microsoft.com/office/drawing/2014/main" id="{E3CEA9B5-E21D-4E2D-9F1C-FFFCFCFE8EE5}"/>
              </a:ext>
            </a:extLst>
          </p:cNvPr>
          <p:cNvSpPr>
            <a:spLocks xmlns:a="http://schemas.openxmlformats.org/drawingml/2006/main" noGrp="1"/>
          </p:cNvSpPr>
          <p:nvPr/>
        </p:nvSpPr>
        <p:spPr>
          <a:xfrm xmlns:a="http://schemas.openxmlformats.org/drawingml/2006/main">
            <a:off x="571500" y="18859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A8BBB4"/>
                </a:solidFill>
                <a:latin typeface="Nimbus Sans"/>
                <a:ea typeface="Nimbus Sans"/>
                <a:cs typeface="Nimbus Sans"/>
              </a:defRPr>
            </a:pPr>
            <a:r>
              <a:rPr sz="1950" b="0">
                <a:solidFill>
                  <a:srgbClr val="A8BBB4"/>
                </a:solidFill>
                <a:latin typeface="Nimbus Sans"/>
                <a:ea typeface="Nimbus Sans"/>
                <a:cs typeface="Nimbus Sans"/>
              </a:rPr>
              <a:t>10 000 faol foydalanuvchi bo‘lsa. Bu erishilgan natija emas.</a:t>
            </a:r>
          </a:p>
        </p:txBody>
      </p:sp>
      <p:graphicFrame>
        <p:nvGraphicFramePr>
          <p:cNvPr id="13" name=""/>
          <p:cNvGraphicFramePr/>
          <p:nvPr/>
        </p:nvGraphicFramePr>
        <p:xfrm>
          <a:off xmlns:a="http://schemas.openxmlformats.org/drawingml/2006/main" x="571500" y="2590800"/>
          <a:ext xmlns:a="http://schemas.openxmlformats.org/drawingml/2006/main" cx="11049000" cy="2247900"/>
        </p:xfrm>
        <a:graphic xmlns:a="http://schemas.openxmlformats.org/drawingml/2006/main">
          <a:graphicData uri="http://schemas.openxmlformats.org/drawingml/2006/table">
            <a:tbl>
              <a:tblPr/>
              <a:tblGrid>
                <a:gridCol w="2762250"/>
                <a:gridCol w="6191250"/>
                <a:gridCol w="2095500"/>
              </a:tblGrid>
              <a:tr h="561975">
                <a:tc>
                  <a:txBody>
                    <a:bodyPr/>
                    <a:lstStyle/>
                    <a:p>
                      <a:r>
                        <a:rPr sz="1650" b="1">
                          <a:solidFill>
                            <a:srgbClr val="71F3B5"/>
                          </a:solidFill>
                          <a:latin typeface="Nimbus Sans"/>
                          <a:ea typeface="Nimbus Sans"/>
                          <a:cs typeface="Nimbus Sans"/>
                        </a:rPr>
                        <a:t>Daromad</a:t>
                      </a:r>
                    </a:p>
                  </a:txBody>
                  <a:tcPr marL="91440" marR="91440" marT="45720" marB="45720">
                    <a:solidFill>
                      <a:srgbClr val="123027"/>
                    </a:solidFill>
                  </a:tcPr>
                </a:tc>
                <a:tc>
                  <a:txBody>
                    <a:bodyPr/>
                    <a:lstStyle/>
                    <a:p>
                      <a:r>
                        <a:rPr sz="1650" b="1">
                          <a:solidFill>
                            <a:srgbClr val="71F3B5"/>
                          </a:solidFill>
                          <a:latin typeface="Nimbus Sans"/>
                          <a:ea typeface="Nimbus Sans"/>
                          <a:cs typeface="Nimbus Sans"/>
                        </a:rPr>
                        <a:t>Oylik hisob farazi</a:t>
                      </a:r>
                    </a:p>
                  </a:txBody>
                  <a:tcPr marL="91440" marR="91440" marT="45720" marB="45720">
                    <a:solidFill>
                      <a:srgbClr val="123027"/>
                    </a:solidFill>
                  </a:tcPr>
                </a:tc>
                <a:tc>
                  <a:txBody>
                    <a:bodyPr/>
                    <a:lstStyle/>
                    <a:p>
                      <a:r>
                        <a:rPr sz="1650" b="1">
                          <a:solidFill>
                            <a:srgbClr val="71F3B5"/>
                          </a:solidFill>
                          <a:latin typeface="Nimbus Sans"/>
                          <a:ea typeface="Nimbus Sans"/>
                          <a:cs typeface="Nimbus Sans"/>
                        </a:rPr>
                        <a:t>Tushum</a:t>
                      </a:r>
                    </a:p>
                  </a:txBody>
                  <a:tcPr marL="91440" marR="91440" marT="45720" marB="45720">
                    <a:solidFill>
                      <a:srgbClr val="123027"/>
                    </a:solidFill>
                  </a:tcPr>
                </a:tc>
              </a:tr>
              <a:tr h="561975">
                <a:tc>
                  <a:txBody>
                    <a:bodyPr/>
                    <a:lstStyle/>
                    <a:p>
                      <a:r>
                        <a:rPr sz="2025" b="0">
                          <a:solidFill>
                            <a:srgbClr val="F3F7F4"/>
                          </a:solidFill>
                          <a:latin typeface="Nimbus Sans"/>
                          <a:ea typeface="Nimbus Sans"/>
                          <a:cs typeface="Nimbus Sans"/>
                        </a:rPr>
                        <a:t>Pro obuna</a:t>
                      </a:r>
                    </a:p>
                  </a:txBody>
                  <a:tcPr marL="91440" marR="91440" marT="45720" marB="45720">
                    <a:solidFill>
                      <a:srgbClr val="080E11"/>
                    </a:solidFill>
                  </a:tcPr>
                </a:tc>
                <a:tc>
                  <a:txBody>
                    <a:bodyPr/>
                    <a:lstStyle/>
                    <a:p>
                      <a:r>
                        <a:rPr sz="2025" b="0">
                          <a:solidFill>
                            <a:srgbClr val="F3F7F4"/>
                          </a:solidFill>
                          <a:latin typeface="Nimbus Sans"/>
                          <a:ea typeface="Nimbus Sans"/>
                          <a:cs typeface="Nimbus Sans"/>
                        </a:rPr>
                        <a:t>2 000 mijoz × 150 ming so‘m</a:t>
                      </a:r>
                    </a:p>
                  </a:txBody>
                  <a:tcPr marL="91440" marR="91440" marT="45720" marB="45720">
                    <a:solidFill>
                      <a:srgbClr val="080E11"/>
                    </a:solidFill>
                  </a:tcPr>
                </a:tc>
                <a:tc>
                  <a:txBody>
                    <a:bodyPr/>
                    <a:lstStyle/>
                    <a:p>
                      <a:r>
                        <a:rPr sz="2025" b="0">
                          <a:solidFill>
                            <a:srgbClr val="F3F7F4"/>
                          </a:solidFill>
                          <a:latin typeface="Nimbus Sans"/>
                          <a:ea typeface="Nimbus Sans"/>
                          <a:cs typeface="Nimbus Sans"/>
                        </a:rPr>
                        <a:t>300 mln</a:t>
                      </a:r>
                    </a:p>
                  </a:txBody>
                  <a:tcPr marL="91440" marR="91440" marT="45720" marB="45720">
                    <a:solidFill>
                      <a:srgbClr val="080E11"/>
                    </a:solidFill>
                  </a:tcPr>
                </a:tc>
              </a:tr>
              <a:tr h="561975">
                <a:tc>
                  <a:txBody>
                    <a:bodyPr/>
                    <a:lstStyle/>
                    <a:p>
                      <a:r>
                        <a:rPr sz="2025" b="0">
                          <a:solidFill>
                            <a:srgbClr val="F3F7F4"/>
                          </a:solidFill>
                          <a:latin typeface="Nimbus Sans"/>
                          <a:ea typeface="Nimbus Sans"/>
                          <a:cs typeface="Nimbus Sans"/>
                        </a:rPr>
                        <a:t>Bank yo‘llanmasi</a:t>
                      </a:r>
                    </a:p>
                  </a:txBody>
                  <a:tcPr marL="91440" marR="91440" marT="45720" marB="45720">
                    <a:solidFill>
                      <a:srgbClr val="080E11"/>
                    </a:solidFill>
                  </a:tcPr>
                </a:tc>
                <a:tc>
                  <a:txBody>
                    <a:bodyPr/>
                    <a:lstStyle/>
                    <a:p>
                      <a:r>
                        <a:rPr sz="2025" b="0">
                          <a:solidFill>
                            <a:srgbClr val="F3F7F4"/>
                          </a:solidFill>
                          <a:latin typeface="Nimbus Sans"/>
                          <a:ea typeface="Nimbus Sans"/>
                          <a:cs typeface="Nimbus Sans"/>
                        </a:rPr>
                        <a:t>50 kredit × 300 mln so‘m × 1%</a:t>
                      </a:r>
                    </a:p>
                  </a:txBody>
                  <a:tcPr marL="91440" marR="91440" marT="45720" marB="45720">
                    <a:solidFill>
                      <a:srgbClr val="080E11"/>
                    </a:solidFill>
                  </a:tcPr>
                </a:tc>
                <a:tc>
                  <a:txBody>
                    <a:bodyPr/>
                    <a:lstStyle/>
                    <a:p>
                      <a:r>
                        <a:rPr sz="2025" b="0">
                          <a:solidFill>
                            <a:srgbClr val="F3F7F4"/>
                          </a:solidFill>
                          <a:latin typeface="Nimbus Sans"/>
                          <a:ea typeface="Nimbus Sans"/>
                          <a:cs typeface="Nimbus Sans"/>
                        </a:rPr>
                        <a:t>150 mln</a:t>
                      </a:r>
                    </a:p>
                  </a:txBody>
                  <a:tcPr marL="91440" marR="91440" marT="45720" marB="45720">
                    <a:solidFill>
                      <a:srgbClr val="080E11"/>
                    </a:solidFill>
                  </a:tcPr>
                </a:tc>
              </a:tr>
              <a:tr h="561975">
                <a:tc>
                  <a:txBody>
                    <a:bodyPr/>
                    <a:lstStyle/>
                    <a:p>
                      <a:r>
                        <a:rPr sz="2025" b="0">
                          <a:solidFill>
                            <a:srgbClr val="F3F7F4"/>
                          </a:solidFill>
                          <a:latin typeface="Nimbus Sans"/>
                          <a:ea typeface="Nimbus Sans"/>
                          <a:cs typeface="Nimbus Sans"/>
                        </a:rPr>
                        <a:t>Escrow</a:t>
                      </a:r>
                    </a:p>
                  </a:txBody>
                  <a:tcPr marL="91440" marR="91440" marT="45720" marB="45720">
                    <a:solidFill>
                      <a:srgbClr val="080E11"/>
                    </a:solidFill>
                  </a:tcPr>
                </a:tc>
                <a:tc>
                  <a:txBody>
                    <a:bodyPr/>
                    <a:lstStyle/>
                    <a:p>
                      <a:r>
                        <a:rPr sz="2025" b="0">
                          <a:solidFill>
                            <a:srgbClr val="F3F7F4"/>
                          </a:solidFill>
                          <a:latin typeface="Nimbus Sans"/>
                          <a:ea typeface="Nimbus Sans"/>
                          <a:cs typeface="Nimbus Sans"/>
                        </a:rPr>
                        <a:t>20 mlrd so‘m aylanma × 0,5%</a:t>
                      </a:r>
                    </a:p>
                  </a:txBody>
                  <a:tcPr marL="91440" marR="91440" marT="45720" marB="45720">
                    <a:solidFill>
                      <a:srgbClr val="080E11"/>
                    </a:solidFill>
                  </a:tcPr>
                </a:tc>
                <a:tc>
                  <a:txBody>
                    <a:bodyPr/>
                    <a:lstStyle/>
                    <a:p>
                      <a:r>
                        <a:rPr sz="2025" b="0">
                          <a:solidFill>
                            <a:srgbClr val="F3F7F4"/>
                          </a:solidFill>
                          <a:latin typeface="Nimbus Sans"/>
                          <a:ea typeface="Nimbus Sans"/>
                          <a:cs typeface="Nimbus Sans"/>
                        </a:rPr>
                        <a:t>100 mln</a:t>
                      </a:r>
                    </a:p>
                  </a:txBody>
                  <a:tcPr marL="91440" marR="91440" marT="45720" marB="45720">
                    <a:solidFill>
                      <a:srgbClr val="080E11"/>
                    </a:solidFill>
                  </a:tcPr>
                </a:tc>
              </a:tr>
            </a:tbl>
          </a:graphicData>
        </a:graphic>
      </p:graphicFrame>
      <p:sp>
        <p:nvSpPr>
          <p:cNvPr id="6" name="">
            <a:extLst xmlns:a="http://schemas.openxmlformats.org/drawingml/2006/main">
              <a:ext uri="{FF2B5EF4-FFF2-40B4-BE49-F238E27FC236}">
                <a16:creationId xmlns:a16="http://schemas.microsoft.com/office/drawing/2014/main" id="{829432A2-8502-49D1-9F63-1113692F498E}"/>
              </a:ext>
            </a:extLst>
          </p:cNvPr>
          <p:cNvSpPr>
            <a:spLocks xmlns:a="http://schemas.openxmlformats.org/drawingml/2006/main" noGrp="1"/>
          </p:cNvSpPr>
          <p:nvPr/>
        </p:nvSpPr>
        <p:spPr>
          <a:xfrm xmlns:a="http://schemas.openxmlformats.org/drawingml/2006/main">
            <a:off x="571500" y="5133975"/>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00" b="1">
                <a:solidFill>
                  <a:srgbClr val="71F3B5"/>
                </a:solidFill>
                <a:latin typeface="Nimbus Sans"/>
                <a:ea typeface="Nimbus Sans"/>
                <a:cs typeface="Nimbus Sans"/>
              </a:defRPr>
            </a:pPr>
            <a:r>
              <a:rPr sz="5700" b="1">
                <a:solidFill>
                  <a:srgbClr val="71F3B5"/>
                </a:solidFill>
                <a:latin typeface="Nimbus Sans"/>
                <a:ea typeface="Nimbus Sans"/>
                <a:cs typeface="Nimbus Sans"/>
              </a:rPr>
              <a:t>550 mln</a:t>
            </a:r>
          </a:p>
        </p:txBody>
      </p:sp>
      <p:sp>
        <p:nvSpPr>
          <p:cNvPr id="7" name="">
            <a:extLst xmlns:a="http://schemas.openxmlformats.org/drawingml/2006/main">
              <a:ext uri="{FF2B5EF4-FFF2-40B4-BE49-F238E27FC236}">
                <a16:creationId xmlns:a16="http://schemas.microsoft.com/office/drawing/2014/main" id="{E8CF6D19-852E-49E0-A2F5-B1FF9233B037}"/>
              </a:ext>
            </a:extLst>
          </p:cNvPr>
          <p:cNvSpPr>
            <a:spLocks xmlns:a="http://schemas.openxmlformats.org/drawingml/2006/main" noGrp="1"/>
          </p:cNvSpPr>
          <p:nvPr/>
        </p:nvSpPr>
        <p:spPr>
          <a:xfrm xmlns:a="http://schemas.openxmlformats.org/drawingml/2006/main">
            <a:off x="6172200" y="5324475"/>
            <a:ext cx="5410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150" b="0">
                <a:solidFill>
                  <a:srgbClr val="F3F7F4"/>
                </a:solidFill>
                <a:latin typeface="Nimbus Sans"/>
                <a:ea typeface="Nimbus Sans"/>
                <a:cs typeface="Nimbus Sans"/>
              </a:defRPr>
            </a:pPr>
            <a:r>
              <a:rPr sz="3150" b="0">
                <a:solidFill>
                  <a:srgbClr val="F3F7F4"/>
                </a:solidFill>
                <a:latin typeface="Nimbus Sans"/>
                <a:ea typeface="Nimbus Sans"/>
                <a:cs typeface="Nimbus Sans"/>
              </a:rPr>
              <a:t>so‘m / oy</a:t>
            </a:r>
          </a:p>
        </p:txBody>
      </p:sp>
      <p:sp>
        <p:nvSpPr>
          <p:cNvPr id="8" name="">
            <a:extLst xmlns:a="http://schemas.openxmlformats.org/drawingml/2006/main">
              <a:ext uri="{FF2B5EF4-FFF2-40B4-BE49-F238E27FC236}">
                <a16:creationId xmlns:a16="http://schemas.microsoft.com/office/drawing/2014/main" id="{85E79CD2-ED63-4E9C-A964-516DAE73E535}"/>
              </a:ext>
            </a:extLst>
          </p:cNvPr>
          <p:cNvSpPr>
            <a:spLocks xmlns:a="http://schemas.openxmlformats.org/drawingml/2006/main" noGrp="1"/>
          </p:cNvSpPr>
          <p:nvPr/>
        </p:nvSpPr>
        <p:spPr>
          <a:xfrm xmlns:a="http://schemas.openxmlformats.org/drawingml/2006/main">
            <a:off x="571500" y="6334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A8BBB4"/>
                </a:solidFill>
                <a:latin typeface="Nimbus Sans"/>
                <a:ea typeface="Nimbus Sans"/>
                <a:cs typeface="Nimbus Sans"/>
              </a:defRPr>
            </a:pPr>
            <a:r>
              <a:rPr sz="1500" b="0">
                <a:solidFill>
                  <a:srgbClr val="A8BBB4"/>
                </a:solidFill>
                <a:latin typeface="Nimbus Sans"/>
                <a:ea typeface="Nimbus Sans"/>
                <a:cs typeface="Nimbus Sans"/>
              </a:rPr>
              <a:t>Yalpi tushum. AI, server, jamoa, sotuv va provayder xarajatlari hali ayrilmagan.</a:t>
            </a:r>
          </a:p>
        </p:txBody>
      </p:sp>
    </p:spTree>
    <p:extLst>
      <p:ext uri="{BB962C8B-B14F-4D97-AF65-F5344CB8AC3E}">
        <p14:creationId xmlns:p14="http://schemas.microsoft.com/office/powerpoint/2010/main" val="526604344"/>
      </p:ext>
    </p:extLst>
  </p:cSld>
</p:sld>
</file>

<file path=ppt/slides/slide9.xml><?xml version="1.0" encoding="utf-8"?>
<p:sld xmlns:p="http://schemas.openxmlformats.org/presentationml/2006/main">
  <p:cSld>
    <p:bg>
      <p:bgPr>
        <a:solidFill xmlns:a="http://schemas.openxmlformats.org/drawingml/2006/main">
          <a:srgbClr val="080E1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656B7B-E4ED-444E-A96C-DF50D6C3A69C}"/>
              </a:ext>
            </a:extLst>
          </p:cNvPr>
          <p:cNvSpPr>
            <a:spLocks xmlns:a="http://schemas.openxmlformats.org/drawingml/2006/main" noGrp="1"/>
          </p:cNvSpPr>
          <p:nvPr/>
        </p:nvSpPr>
        <p:spPr>
          <a:xfrm xmlns:a="http://schemas.openxmlformats.org/drawingml/2006/main">
            <a:off x="571500" y="3333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A8BBB4"/>
                </a:solidFill>
                <a:latin typeface="Nimbus Sans"/>
                <a:ea typeface="Nimbus Sans"/>
                <a:cs typeface="Nimbus Sans"/>
              </a:defRPr>
            </a:pPr>
            <a:r>
              <a:rPr sz="1500" b="1">
                <a:solidFill>
                  <a:srgbClr val="A8BBB4"/>
                </a:solidFill>
                <a:latin typeface="Nimbus Sans"/>
                <a:ea typeface="Nimbus Sans"/>
                <a:cs typeface="Nimbus Sans"/>
              </a:rPr>
              <a:t>BozorPulsAi</a:t>
            </a:r>
          </a:p>
        </p:txBody>
      </p:sp>
      <p:sp>
        <p:nvSpPr>
          <p:cNvPr id="2" name="">
            <a:extLst xmlns:a="http://schemas.openxmlformats.org/drawingml/2006/main">
              <a:ext uri="{FF2B5EF4-FFF2-40B4-BE49-F238E27FC236}">
                <a16:creationId xmlns:a16="http://schemas.microsoft.com/office/drawing/2014/main" id="{941065B6-4961-4663-965D-178970281114}"/>
              </a:ext>
            </a:extLst>
          </p:cNvPr>
          <p:cNvSpPr>
            <a:spLocks xmlns:a="http://schemas.openxmlformats.org/drawingml/2006/main" noGrp="1"/>
          </p:cNvSpPr>
          <p:nvPr/>
        </p:nvSpPr>
        <p:spPr>
          <a:xfrm xmlns:a="http://schemas.openxmlformats.org/drawingml/2006/main">
            <a:off x="11049000"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09</a:t>
            </a:r>
          </a:p>
        </p:txBody>
      </p:sp>
      <p:sp>
        <p:nvSpPr>
          <p:cNvPr id="3" name="">
            <a:extLst xmlns:a="http://schemas.openxmlformats.org/drawingml/2006/main">
              <a:ext uri="{FF2B5EF4-FFF2-40B4-BE49-F238E27FC236}">
                <a16:creationId xmlns:a16="http://schemas.microsoft.com/office/drawing/2014/main" id="{A9084740-CF6D-452E-B2BD-2666496B7B33}"/>
              </a:ext>
            </a:extLst>
          </p:cNvPr>
          <p:cNvSpPr>
            <a:spLocks xmlns:a="http://schemas.openxmlformats.org/drawingml/2006/main" noGrp="1"/>
          </p:cNvSpPr>
          <p:nvPr/>
        </p:nvSpPr>
        <p:spPr>
          <a:xfrm xmlns:a="http://schemas.openxmlformats.org/drawingml/2006/main">
            <a:off x="571500" y="1047750"/>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3F7F4"/>
                </a:solidFill>
                <a:latin typeface="Nimbus Sans"/>
                <a:ea typeface="Nimbus Sans"/>
                <a:cs typeface="Nimbus Sans"/>
              </a:defRPr>
            </a:pPr>
            <a:r>
              <a:rPr sz="4050" b="1">
                <a:solidFill>
                  <a:srgbClr val="F3F7F4"/>
                </a:solidFill>
                <a:latin typeface="Nimbus Sans"/>
                <a:ea typeface="Nimbus Sans"/>
                <a:cs typeface="Nimbus Sans"/>
              </a:rPr>
              <a:t>Keyingi qadam: Xorazmda sinov</a:t>
            </a:r>
          </a:p>
        </p:txBody>
      </p:sp>
      <p:sp>
        <p:nvSpPr>
          <p:cNvPr id="4" name="">
            <a:extLst xmlns:a="http://schemas.openxmlformats.org/drawingml/2006/main">
              <a:ext uri="{FF2B5EF4-FFF2-40B4-BE49-F238E27FC236}">
                <a16:creationId xmlns:a16="http://schemas.microsoft.com/office/drawing/2014/main" id="{829CA9C4-B622-4B86-BA38-915EDB33E18F}"/>
              </a:ext>
            </a:extLst>
          </p:cNvPr>
          <p:cNvSpPr>
            <a:spLocks xmlns:a="http://schemas.openxmlformats.org/drawingml/2006/main" noGrp="1"/>
          </p:cNvSpPr>
          <p:nvPr/>
        </p:nvSpPr>
        <p:spPr>
          <a:xfrm xmlns:a="http://schemas.openxmlformats.org/drawingml/2006/main">
            <a:off x="571500" y="2209800"/>
            <a:ext cx="53721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750" b="1">
                <a:solidFill>
                  <a:srgbClr val="71F3B5"/>
                </a:solidFill>
                <a:latin typeface="Nimbus Sans"/>
                <a:ea typeface="Nimbus Sans"/>
                <a:cs typeface="Nimbus Sans"/>
              </a:defRPr>
            </a:pPr>
            <a:r>
              <a:rPr sz="6750" b="1">
                <a:solidFill>
                  <a:srgbClr val="71F3B5"/>
                </a:solidFill>
                <a:latin typeface="Nimbus Sans"/>
                <a:ea typeface="Nimbus Sans"/>
                <a:cs typeface="Nimbus Sans"/>
              </a:rPr>
              <a:t>6 hafta</a:t>
            </a:r>
          </a:p>
        </p:txBody>
      </p:sp>
      <p:sp>
        <p:nvSpPr>
          <p:cNvPr id="5" name="">
            <a:extLst xmlns:a="http://schemas.openxmlformats.org/drawingml/2006/main">
              <a:ext uri="{FF2B5EF4-FFF2-40B4-BE49-F238E27FC236}">
                <a16:creationId xmlns:a16="http://schemas.microsoft.com/office/drawing/2014/main" id="{D961BEB0-EE50-4B66-A3A5-3E76B836DFEA}"/>
              </a:ext>
            </a:extLst>
          </p:cNvPr>
          <p:cNvSpPr>
            <a:spLocks xmlns:a="http://schemas.openxmlformats.org/drawingml/2006/main" noGrp="1"/>
          </p:cNvSpPr>
          <p:nvPr/>
        </p:nvSpPr>
        <p:spPr>
          <a:xfrm xmlns:a="http://schemas.openxmlformats.org/drawingml/2006/main">
            <a:off x="571500" y="34766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F3F7F4"/>
                </a:solidFill>
                <a:latin typeface="Nimbus Sans"/>
                <a:ea typeface="Nimbus Sans"/>
                <a:cs typeface="Nimbus Sans"/>
              </a:defRPr>
            </a:pPr>
            <a:r>
              <a:rPr sz="2400" b="0">
                <a:solidFill>
                  <a:srgbClr val="F3F7F4"/>
                </a:solidFill>
                <a:latin typeface="Nimbus Sans"/>
                <a:ea typeface="Nimbus Sans"/>
                <a:cs typeface="Nimbus Sans"/>
              </a:rPr>
              <a:t>30 tadbirkor, 3 bozor, 10 mahsulot turi</a:t>
            </a:r>
          </a:p>
        </p:txBody>
      </p:sp>
      <p:sp>
        <p:nvSpPr>
          <p:cNvPr id="6" name="">
            <a:extLst xmlns:a="http://schemas.openxmlformats.org/drawingml/2006/main">
              <a:ext uri="{FF2B5EF4-FFF2-40B4-BE49-F238E27FC236}">
                <a16:creationId xmlns:a16="http://schemas.microsoft.com/office/drawing/2014/main" id="{02223BCC-6A40-4640-B9E9-75F6F31EC6E8}"/>
              </a:ext>
            </a:extLst>
          </p:cNvPr>
          <p:cNvSpPr>
            <a:spLocks xmlns:a="http://schemas.openxmlformats.org/drawingml/2006/main" noGrp="1"/>
          </p:cNvSpPr>
          <p:nvPr/>
        </p:nvSpPr>
        <p:spPr>
          <a:xfrm xmlns:a="http://schemas.openxmlformats.org/drawingml/2006/main">
            <a:off x="571500" y="4457700"/>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3F7F4"/>
                </a:solidFill>
                <a:latin typeface="Nimbus Sans"/>
                <a:ea typeface="Nimbus Sans"/>
                <a:cs typeface="Nimbus Sans"/>
              </a:defRPr>
            </a:pPr>
            <a:r>
              <a:rPr sz="2250" b="1">
                <a:solidFill>
                  <a:srgbClr val="F3F7F4"/>
                </a:solidFill>
                <a:latin typeface="Nimbus Sans"/>
                <a:ea typeface="Nimbus Sans"/>
                <a:cs typeface="Nimbus Sans"/>
              </a:rPr>
              <a:t>1–2-hafta</a:t>
            </a:r>
          </a:p>
        </p:txBody>
      </p:sp>
      <p:sp>
        <p:nvSpPr>
          <p:cNvPr id="7" name="">
            <a:extLst xmlns:a="http://schemas.openxmlformats.org/drawingml/2006/main">
              <a:ext uri="{FF2B5EF4-FFF2-40B4-BE49-F238E27FC236}">
                <a16:creationId xmlns:a16="http://schemas.microsoft.com/office/drawing/2014/main" id="{CB22BF23-D8F9-4CFB-ADBA-2117786E4ABB}"/>
              </a:ext>
            </a:extLst>
          </p:cNvPr>
          <p:cNvSpPr>
            <a:spLocks xmlns:a="http://schemas.openxmlformats.org/drawingml/2006/main" noGrp="1"/>
          </p:cNvSpPr>
          <p:nvPr/>
        </p:nvSpPr>
        <p:spPr>
          <a:xfrm xmlns:a="http://schemas.openxmlformats.org/drawingml/2006/main">
            <a:off x="571500" y="5010150"/>
            <a:ext cx="319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A8BBB4"/>
                </a:solidFill>
                <a:latin typeface="Nimbus Sans"/>
                <a:ea typeface="Nimbus Sans"/>
                <a:cs typeface="Nimbus Sans"/>
              </a:defRPr>
            </a:pPr>
            <a:r>
              <a:rPr sz="1875" b="0">
                <a:solidFill>
                  <a:srgbClr val="A8BBB4"/>
                </a:solidFill>
                <a:latin typeface="Nimbus Sans"/>
                <a:ea typeface="Nimbus Sans"/>
                <a:cs typeface="Nimbus Sans"/>
              </a:rPr>
              <a:t>Intervyu va narx manbalari.</a:t>
            </a:r>
          </a:p>
          <a:p xmlns:a="http://schemas.openxmlformats.org/drawingml/2006/main">
            <a:pPr>
              <a:defRPr sz="1875" b="0">
                <a:solidFill>
                  <a:srgbClr val="A8BBB4"/>
                </a:solidFill>
                <a:latin typeface="Nimbus Sans"/>
                <a:ea typeface="Nimbus Sans"/>
                <a:cs typeface="Nimbus Sans"/>
              </a:defRPr>
            </a:pPr>
            <a:r>
              <a:rPr sz="1875" b="0">
                <a:solidFill>
                  <a:srgbClr val="A8BBB4"/>
                </a:solidFill>
                <a:latin typeface="Nimbus Sans"/>
                <a:ea typeface="Nimbus Sans"/>
                <a:cs typeface="Nimbus Sans"/>
              </a:rPr>
              <a:t>Boshlang‘ich holatni o‘lchash.</a:t>
            </a:r>
          </a:p>
        </p:txBody>
      </p:sp>
      <p:sp>
        <p:nvSpPr>
          <p:cNvPr id="8" name="">
            <a:extLst xmlns:a="http://schemas.openxmlformats.org/drawingml/2006/main">
              <a:ext uri="{FF2B5EF4-FFF2-40B4-BE49-F238E27FC236}">
                <a16:creationId xmlns:a16="http://schemas.microsoft.com/office/drawing/2014/main" id="{DC9820A3-71A8-4154-801D-B3769D87655F}"/>
              </a:ext>
            </a:extLst>
          </p:cNvPr>
          <p:cNvSpPr>
            <a:spLocks xmlns:a="http://schemas.openxmlformats.org/drawingml/2006/main" noGrp="1"/>
          </p:cNvSpPr>
          <p:nvPr/>
        </p:nvSpPr>
        <p:spPr>
          <a:xfrm xmlns:a="http://schemas.openxmlformats.org/drawingml/2006/main">
            <a:off x="4438650" y="4457700"/>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3F7F4"/>
                </a:solidFill>
                <a:latin typeface="Nimbus Sans"/>
                <a:ea typeface="Nimbus Sans"/>
                <a:cs typeface="Nimbus Sans"/>
              </a:defRPr>
            </a:pPr>
            <a:r>
              <a:rPr sz="2250" b="1">
                <a:solidFill>
                  <a:srgbClr val="F3F7F4"/>
                </a:solidFill>
                <a:latin typeface="Nimbus Sans"/>
                <a:ea typeface="Nimbus Sans"/>
                <a:cs typeface="Nimbus Sans"/>
              </a:rPr>
              <a:t>3–4-hafta</a:t>
            </a:r>
          </a:p>
        </p:txBody>
      </p:sp>
      <p:sp>
        <p:nvSpPr>
          <p:cNvPr id="9" name="">
            <a:extLst xmlns:a="http://schemas.openxmlformats.org/drawingml/2006/main">
              <a:ext uri="{FF2B5EF4-FFF2-40B4-BE49-F238E27FC236}">
                <a16:creationId xmlns:a16="http://schemas.microsoft.com/office/drawing/2014/main" id="{5781767C-0D62-484D-8A8C-20703831AA71}"/>
              </a:ext>
            </a:extLst>
          </p:cNvPr>
          <p:cNvSpPr>
            <a:spLocks xmlns:a="http://schemas.openxmlformats.org/drawingml/2006/main" noGrp="1"/>
          </p:cNvSpPr>
          <p:nvPr/>
        </p:nvSpPr>
        <p:spPr>
          <a:xfrm xmlns:a="http://schemas.openxmlformats.org/drawingml/2006/main">
            <a:off x="4438650" y="5010150"/>
            <a:ext cx="319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A8BBB4"/>
                </a:solidFill>
                <a:latin typeface="Nimbus Sans"/>
                <a:ea typeface="Nimbus Sans"/>
                <a:cs typeface="Nimbus Sans"/>
              </a:defRPr>
            </a:pPr>
            <a:r>
              <a:rPr sz="1875" b="0">
                <a:solidFill>
                  <a:srgbClr val="A8BBB4"/>
                </a:solidFill>
                <a:latin typeface="Nimbus Sans"/>
                <a:ea typeface="Nimbus Sans"/>
                <a:cs typeface="Nimbus Sans"/>
              </a:rPr>
              <a:t>Kundalik xarid va hisob.</a:t>
            </a:r>
          </a:p>
          <a:p xmlns:a="http://schemas.openxmlformats.org/drawingml/2006/main">
            <a:pPr>
              <a:defRPr sz="1875" b="0">
                <a:solidFill>
                  <a:srgbClr val="A8BBB4"/>
                </a:solidFill>
                <a:latin typeface="Nimbus Sans"/>
                <a:ea typeface="Nimbus Sans"/>
                <a:cs typeface="Nimbus Sans"/>
              </a:defRPr>
            </a:pPr>
            <a:r>
              <a:rPr sz="1875" b="0">
                <a:solidFill>
                  <a:srgbClr val="A8BBB4"/>
                </a:solidFill>
                <a:latin typeface="Nimbus Sans"/>
                <a:ea typeface="Nimbus Sans"/>
                <a:cs typeface="Nimbus Sans"/>
              </a:rPr>
              <a:t>Vaqt va xarajatni solishtirish.</a:t>
            </a:r>
          </a:p>
        </p:txBody>
      </p:sp>
      <p:sp>
        <p:nvSpPr>
          <p:cNvPr id="10" name="">
            <a:extLst xmlns:a="http://schemas.openxmlformats.org/drawingml/2006/main">
              <a:ext uri="{FF2B5EF4-FFF2-40B4-BE49-F238E27FC236}">
                <a16:creationId xmlns:a16="http://schemas.microsoft.com/office/drawing/2014/main" id="{FEF9690C-2B8B-4738-827E-B41444153F8B}"/>
              </a:ext>
            </a:extLst>
          </p:cNvPr>
          <p:cNvSpPr>
            <a:spLocks xmlns:a="http://schemas.openxmlformats.org/drawingml/2006/main" noGrp="1"/>
          </p:cNvSpPr>
          <p:nvPr/>
        </p:nvSpPr>
        <p:spPr>
          <a:xfrm xmlns:a="http://schemas.openxmlformats.org/drawingml/2006/main">
            <a:off x="8286750" y="44577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3F7F4"/>
                </a:solidFill>
                <a:latin typeface="Nimbus Sans"/>
                <a:ea typeface="Nimbus Sans"/>
                <a:cs typeface="Nimbus Sans"/>
              </a:defRPr>
            </a:pPr>
            <a:r>
              <a:rPr sz="2250" b="1">
                <a:solidFill>
                  <a:srgbClr val="F3F7F4"/>
                </a:solidFill>
                <a:latin typeface="Nimbus Sans"/>
                <a:ea typeface="Nimbus Sans"/>
                <a:cs typeface="Nimbus Sans"/>
              </a:rPr>
              <a:t>5–6-hafta</a:t>
            </a:r>
          </a:p>
        </p:txBody>
      </p:sp>
      <p:sp>
        <p:nvSpPr>
          <p:cNvPr id="11" name="">
            <a:extLst xmlns:a="http://schemas.openxmlformats.org/drawingml/2006/main">
              <a:ext uri="{FF2B5EF4-FFF2-40B4-BE49-F238E27FC236}">
                <a16:creationId xmlns:a16="http://schemas.microsoft.com/office/drawing/2014/main" id="{40B4BB02-A16E-40FE-9C07-AEB764B08AED}"/>
              </a:ext>
            </a:extLst>
          </p:cNvPr>
          <p:cNvSpPr>
            <a:spLocks xmlns:a="http://schemas.openxmlformats.org/drawingml/2006/main" noGrp="1"/>
          </p:cNvSpPr>
          <p:nvPr/>
        </p:nvSpPr>
        <p:spPr>
          <a:xfrm xmlns:a="http://schemas.openxmlformats.org/drawingml/2006/main">
            <a:off x="8286750" y="5010150"/>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A8BBB4"/>
                </a:solidFill>
                <a:latin typeface="Nimbus Sans"/>
                <a:ea typeface="Nimbus Sans"/>
                <a:cs typeface="Nimbus Sans"/>
              </a:defRPr>
            </a:pPr>
            <a:r>
              <a:rPr sz="1875" b="0">
                <a:solidFill>
                  <a:srgbClr val="A8BBB4"/>
                </a:solidFill>
                <a:latin typeface="Nimbus Sans"/>
                <a:ea typeface="Nimbus Sans"/>
                <a:cs typeface="Nimbus Sans"/>
              </a:rPr>
              <a:t>Takroriy foydalanish.</a:t>
            </a:r>
          </a:p>
          <a:p xmlns:a="http://schemas.openxmlformats.org/drawingml/2006/main">
            <a:pPr>
              <a:defRPr sz="1875" b="0">
                <a:solidFill>
                  <a:srgbClr val="A8BBB4"/>
                </a:solidFill>
                <a:latin typeface="Nimbus Sans"/>
                <a:ea typeface="Nimbus Sans"/>
                <a:cs typeface="Nimbus Sans"/>
              </a:defRPr>
            </a:pPr>
            <a:r>
              <a:rPr sz="1875" b="0">
                <a:solidFill>
                  <a:srgbClr val="A8BBB4"/>
                </a:solidFill>
                <a:latin typeface="Nimbus Sans"/>
                <a:ea typeface="Nimbus Sans"/>
                <a:cs typeface="Nimbus Sans"/>
              </a:rPr>
              <a:t>Pullik obunaga talabni tekshirish.</a:t>
            </a:r>
          </a:p>
        </p:txBody>
      </p:sp>
      <p:sp>
        <p:nvSpPr>
          <p:cNvPr id="12" name="">
            <a:extLst xmlns:a="http://schemas.openxmlformats.org/drawingml/2006/main">
              <a:ext uri="{FF2B5EF4-FFF2-40B4-BE49-F238E27FC236}">
                <a16:creationId xmlns:a16="http://schemas.microsoft.com/office/drawing/2014/main" id="{DF0A7097-E7E6-4EFE-A9A3-4FF0D349F531}"/>
              </a:ext>
            </a:extLst>
          </p:cNvPr>
          <p:cNvSpPr>
            <a:spLocks xmlns:a="http://schemas.openxmlformats.org/drawingml/2006/main" noGrp="1"/>
          </p:cNvSpPr>
          <p:nvPr/>
        </p:nvSpPr>
        <p:spPr>
          <a:xfrm xmlns:a="http://schemas.openxmlformats.org/drawingml/2006/main">
            <a:off x="571500" y="61341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71F3B5"/>
                </a:solidFill>
                <a:latin typeface="Nimbus Sans"/>
                <a:ea typeface="Nimbus Sans"/>
                <a:cs typeface="Nimbus Sans"/>
              </a:defRPr>
            </a:pPr>
            <a:r>
              <a:rPr sz="2100" b="1">
                <a:solidFill>
                  <a:srgbClr val="71F3B5"/>
                </a:solidFill>
                <a:latin typeface="Nimbus Sans"/>
                <a:ea typeface="Nimbus Sans"/>
                <a:cs typeface="Nimbus Sans"/>
              </a:rPr>
              <a:t>Bizga pilot ishtirokchilari va bozor ma’lumoti hamkorlari kerak.</a:t>
            </a:r>
          </a:p>
        </p:txBody>
      </p:sp>
    </p:spTree>
    <p:extLst>
      <p:ext uri="{BB962C8B-B14F-4D97-AF65-F5344CB8AC3E}">
        <p14:creationId xmlns:p14="http://schemas.microsoft.com/office/powerpoint/2010/main" val="1729325087"/>
      </p:ext>
    </p:extLst>
  </p:cSld>
</p:sld>
</file>

<file path=ppt/slides/slide10.xml><?xml version="1.0" encoding="utf-8"?>
<p:sld xmlns:p="http://schemas.openxmlformats.org/presentationml/2006/main">
  <p:cSld>
    <p:bg>
      <p:bgPr>
        <a:solidFill xmlns:a="http://schemas.openxmlformats.org/drawingml/2006/main">
          <a:srgbClr val="080E1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1CB5E3-6566-4604-8A8C-5EB2EE2D1194}"/>
              </a:ext>
            </a:extLst>
          </p:cNvPr>
          <p:cNvSpPr>
            <a:spLocks xmlns:a="http://schemas.openxmlformats.org/drawingml/2006/main" noGrp="1"/>
          </p:cNvSpPr>
          <p:nvPr/>
        </p:nvSpPr>
        <p:spPr>
          <a:xfrm xmlns:a="http://schemas.openxmlformats.org/drawingml/2006/main">
            <a:off x="571500" y="3333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A8BBB4"/>
                </a:solidFill>
                <a:latin typeface="Nimbus Sans"/>
                <a:ea typeface="Nimbus Sans"/>
                <a:cs typeface="Nimbus Sans"/>
              </a:defRPr>
            </a:pPr>
            <a:r>
              <a:rPr sz="1500" b="1">
                <a:solidFill>
                  <a:srgbClr val="A8BBB4"/>
                </a:solidFill>
                <a:latin typeface="Nimbus Sans"/>
                <a:ea typeface="Nimbus Sans"/>
                <a:cs typeface="Nimbus Sans"/>
              </a:rPr>
              <a:t>BozorPulsAi</a:t>
            </a:r>
          </a:p>
        </p:txBody>
      </p:sp>
      <p:sp>
        <p:nvSpPr>
          <p:cNvPr id="2" name="">
            <a:extLst xmlns:a="http://schemas.openxmlformats.org/drawingml/2006/main">
              <a:ext uri="{FF2B5EF4-FFF2-40B4-BE49-F238E27FC236}">
                <a16:creationId xmlns:a16="http://schemas.microsoft.com/office/drawing/2014/main" id="{7CCFF35E-7FEA-428F-8A97-4267DCB02603}"/>
              </a:ext>
            </a:extLst>
          </p:cNvPr>
          <p:cNvSpPr>
            <a:spLocks xmlns:a="http://schemas.openxmlformats.org/drawingml/2006/main" noGrp="1"/>
          </p:cNvSpPr>
          <p:nvPr/>
        </p:nvSpPr>
        <p:spPr>
          <a:xfrm xmlns:a="http://schemas.openxmlformats.org/drawingml/2006/main">
            <a:off x="11049000" y="3333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BBB4"/>
                </a:solidFill>
                <a:latin typeface="Nimbus Sans"/>
                <a:ea typeface="Nimbus Sans"/>
                <a:cs typeface="Nimbus Sans"/>
              </a:defRPr>
            </a:pPr>
            <a:r>
              <a:rPr sz="1350" b="0">
                <a:solidFill>
                  <a:srgbClr val="A8BBB4"/>
                </a:solidFill>
                <a:latin typeface="Nimbus Sans"/>
                <a:ea typeface="Nimbus Sans"/>
                <a:cs typeface="Nimbus Sans"/>
              </a:rPr>
              <a:t>10</a:t>
            </a:r>
          </a:p>
        </p:txBody>
      </p:sp>
      <p:sp>
        <p:nvSpPr>
          <p:cNvPr id="3" name="">
            <a:extLst xmlns:a="http://schemas.openxmlformats.org/drawingml/2006/main">
              <a:ext uri="{FF2B5EF4-FFF2-40B4-BE49-F238E27FC236}">
                <a16:creationId xmlns:a16="http://schemas.microsoft.com/office/drawing/2014/main" id="{A0533BE1-1CCA-42F7-8365-F9AC6545E99F}"/>
              </a:ext>
            </a:extLst>
          </p:cNvPr>
          <p:cNvSpPr>
            <a:spLocks xmlns:a="http://schemas.openxmlformats.org/drawingml/2006/main" noGrp="1"/>
          </p:cNvSpPr>
          <p:nvPr/>
        </p:nvSpPr>
        <p:spPr>
          <a:xfrm xmlns:a="http://schemas.openxmlformats.org/drawingml/2006/main">
            <a:off x="571500" y="2133600"/>
            <a:ext cx="1104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650" b="1">
                <a:solidFill>
                  <a:srgbClr val="71F3B5"/>
                </a:solidFill>
                <a:latin typeface="Nimbus Sans"/>
                <a:ea typeface="Nimbus Sans"/>
                <a:cs typeface="Nimbus Sans"/>
              </a:defRPr>
            </a:pPr>
            <a:r>
              <a:rPr sz="10650" b="1">
                <a:solidFill>
                  <a:srgbClr val="71F3B5"/>
                </a:solidFill>
                <a:latin typeface="Nimbus Sans"/>
                <a:ea typeface="Nimbus Sans"/>
                <a:cs typeface="Nimbus Sans"/>
              </a:rPr>
              <a:t>Tamom</a:t>
            </a:r>
          </a:p>
        </p:txBody>
      </p:sp>
      <p:sp>
        <p:nvSpPr>
          <p:cNvPr id="4" name="">
            <a:extLst xmlns:a="http://schemas.openxmlformats.org/drawingml/2006/main">
              <a:ext uri="{FF2B5EF4-FFF2-40B4-BE49-F238E27FC236}">
                <a16:creationId xmlns:a16="http://schemas.microsoft.com/office/drawing/2014/main" id="{6FD208FF-F106-4DE3-B9BE-2A0325C56AD3}"/>
              </a:ext>
            </a:extLst>
          </p:cNvPr>
          <p:cNvSpPr>
            <a:spLocks xmlns:a="http://schemas.openxmlformats.org/drawingml/2006/main" noGrp="1"/>
          </p:cNvSpPr>
          <p:nvPr/>
        </p:nvSpPr>
        <p:spPr>
          <a:xfrm xmlns:a="http://schemas.openxmlformats.org/drawingml/2006/main">
            <a:off x="647700" y="41243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0">
                <a:solidFill>
                  <a:srgbClr val="F3F7F4"/>
                </a:solidFill>
                <a:latin typeface="Nimbus Sans"/>
                <a:ea typeface="Nimbus Sans"/>
                <a:cs typeface="Nimbus Sans"/>
              </a:defRPr>
            </a:pPr>
            <a:r>
              <a:rPr sz="3225" b="0">
                <a:solidFill>
                  <a:srgbClr val="F3F7F4"/>
                </a:solidFill>
                <a:latin typeface="Nimbus Sans"/>
                <a:ea typeface="Nimbus Sans"/>
                <a:cs typeface="Nimbus Sans"/>
              </a:rPr>
              <a:t>E’tiboringiz uchun rahmat!</a:t>
            </a:r>
          </a:p>
        </p:txBody>
      </p:sp>
      <p:sp>
        <p:nvSpPr>
          <p:cNvPr id="5" name="">
            <a:extLst xmlns:a="http://schemas.openxmlformats.org/drawingml/2006/main">
              <a:ext uri="{FF2B5EF4-FFF2-40B4-BE49-F238E27FC236}">
                <a16:creationId xmlns:a16="http://schemas.microsoft.com/office/drawing/2014/main" id="{A351F366-8FAA-47A6-912A-B52596A69D06}"/>
              </a:ext>
            </a:extLst>
          </p:cNvPr>
          <p:cNvSpPr>
            <a:spLocks xmlns:a="http://schemas.openxmlformats.org/drawingml/2006/main" noGrp="1"/>
          </p:cNvSpPr>
          <p:nvPr/>
        </p:nvSpPr>
        <p:spPr>
          <a:xfrm xmlns:a="http://schemas.openxmlformats.org/drawingml/2006/main">
            <a:off x="647700" y="49911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A8BBB4"/>
                </a:solidFill>
                <a:latin typeface="Nimbus Sans"/>
                <a:ea typeface="Nimbus Sans"/>
                <a:cs typeface="Nimbus Sans"/>
              </a:defRPr>
            </a:pPr>
            <a:r>
              <a:rPr sz="2175" b="0">
                <a:solidFill>
                  <a:srgbClr val="A8BBB4"/>
                </a:solidFill>
                <a:latin typeface="Nimbus Sans"/>
                <a:ea typeface="Nimbus Sans"/>
                <a:cs typeface="Nimbus Sans"/>
              </a:rPr>
              <a:t>Savollaringizni kutamiz.</a:t>
            </a:r>
          </a:p>
        </p:txBody>
      </p:sp>
      <p:sp>
        <p:nvSpPr>
          <p:cNvPr id="6" name="">
            <a:extLst xmlns:a="http://schemas.openxmlformats.org/drawingml/2006/main">
              <a:ext uri="{FF2B5EF4-FFF2-40B4-BE49-F238E27FC236}">
                <a16:creationId xmlns:a16="http://schemas.microsoft.com/office/drawing/2014/main" id="{09E2320A-10EB-4B36-855C-A5792E89190E}"/>
              </a:ext>
            </a:extLst>
          </p:cNvPr>
          <p:cNvSpPr>
            <a:spLocks xmlns:a="http://schemas.openxmlformats.org/drawingml/2006/main" noGrp="1"/>
          </p:cNvSpPr>
          <p:nvPr/>
        </p:nvSpPr>
        <p:spPr>
          <a:xfrm xmlns:a="http://schemas.openxmlformats.org/drawingml/2006/main">
            <a:off x="647700" y="61055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3F7F4"/>
                </a:solidFill>
                <a:latin typeface="Nimbus Sans"/>
                <a:ea typeface="Nimbus Sans"/>
                <a:cs typeface="Nimbus Sans"/>
              </a:defRPr>
            </a:pPr>
            <a:r>
              <a:rPr sz="1950" b="1">
                <a:solidFill>
                  <a:srgbClr val="F3F7F4"/>
                </a:solidFill>
                <a:latin typeface="Nimbus Sans"/>
                <a:ea typeface="Nimbus Sans"/>
                <a:cs typeface="Nimbus Sans"/>
              </a:rPr>
              <a:t>AzYuBa</a:t>
            </a:r>
          </a:p>
        </p:txBody>
      </p:sp>
      <p:sp>
        <p:nvSpPr>
          <p:cNvPr id="7" name="">
            <a:extLst xmlns:a="http://schemas.openxmlformats.org/drawingml/2006/main">
              <a:ext uri="{FF2B5EF4-FFF2-40B4-BE49-F238E27FC236}">
                <a16:creationId xmlns:a16="http://schemas.microsoft.com/office/drawing/2014/main" id="{F2BAEC43-A12C-48A1-AAD2-F609AB357673}"/>
              </a:ext>
            </a:extLst>
          </p:cNvPr>
          <p:cNvSpPr>
            <a:spLocks xmlns:a="http://schemas.openxmlformats.org/drawingml/2006/main" noGrp="1"/>
          </p:cNvSpPr>
          <p:nvPr/>
        </p:nvSpPr>
        <p:spPr>
          <a:xfrm xmlns:a="http://schemas.openxmlformats.org/drawingml/2006/main">
            <a:off x="7762875" y="610552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A8BBB4"/>
                </a:solidFill>
                <a:latin typeface="Nimbus Sans"/>
                <a:ea typeface="Nimbus Sans"/>
                <a:cs typeface="Nimbus Sans"/>
              </a:defRPr>
            </a:pPr>
            <a:r>
              <a:rPr sz="1950" b="0">
                <a:solidFill>
                  <a:srgbClr val="A8BBB4"/>
                </a:solidFill>
                <a:latin typeface="Nimbus Sans"/>
                <a:ea typeface="Nimbus Sans"/>
                <a:cs typeface="Nimbus Sans"/>
              </a:rPr>
              <a:t>Yusufov Azizbek</a:t>
            </a:r>
          </a:p>
        </p:txBody>
      </p:sp>
    </p:spTree>
    <p:extLst>
      <p:ext uri="{BB962C8B-B14F-4D97-AF65-F5344CB8AC3E}">
        <p14:creationId xmlns:p14="http://schemas.microsoft.com/office/powerpoint/2010/main" val="4571872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2026-09-19T12:30:09.1480000Z</dcterms:created>
  <dcterms:modified xsi:type="dcterms:W3CDTF">2026-09-19T12:30:09.1490000Z</dcterms:modified>
</coreProperties>
</file>